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3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C3691DA-60A2-415C-BB18-050AC81E219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1 - Título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Abra com segurança e sem pressa. Diga que o trabalho propõe uma arquitetura modular para redes overlay P2P descentralizadas, com foco em comunicação segura e orientada à privacidade, persistência de dados e suporte a aplicações descentralizadas. Já deixe claro que a defesa vai tratar de arquitetura, implementação experimental e validação por fluxos.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Apoio rápido: abrir: arquitetura, não app isolado.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6EBB16D-7539-4A38-8554-ABA684E97F3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2 - O problema não é apenas descentralizar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Explique que descentralizar uma aplicação não basta. O desafio real é organizar identidade, comunicação, descoberta, roteamento, persistência e segurança sem depender de um servidor central. Diga que o trabalho nasce exatamente desse ponto: como estruturar uma camada overlay que permita que esses problemas sejam tratados de forma modular e evolutiva.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Apoio rápido: problema: descentralizar também cria complexidade.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DF80E9D-E82D-4FD3-866B-5F3AE918DBA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3 - Revisão sistemática e lacuna encontrada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que a SLR partiu de 2581 registros, passou por triagem, avaliou 17 textos completos e chegou a 6 estudos. Reforce que esse número não é fraqueza: ele reflete uma interseção rígida entre P2P descentralizado, comunicação anônima ou privacy-preserving, segurança e relevância para roteamento, descoberta, NAT traversal ou persistência. Feche dizendo que os sistemas existentes resolvem partes do problema, mas o trabalho busca integrar essas partes em uma arquitetura.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Apoio rápido: lacuna: integração, não falta de peças.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63C0249-16AD-482A-AC6C-357337365D3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4 - Pergunta de pesquisa e objetivo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Leia a pergunta com calma e explique que o objetivo não foi apenas enviar mensagens entre peers. O objetivo foi organizar uma camada de rede reutilizável, onde diferentes aplicações possam consumir descoberta, rotas, sessões, dados persistentes e mecanismos de segurança sem conhecer detalhes internos do core.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Apoio rápido: pergunta: como organizar a camada?.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E4FFEC3-9E0C-40C4-99F7-682B61F0F89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5 - Contribuição central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Este é um slide central. Diga que o trabalho não deve ser entendido como “uma rede social descentralizada”. A contribuição é a camada overlay: uma arquitetura que separa conexão física, identidade virtual, tabelas distribuídas, rotas, sessões e aplicações. Explique que essa separação aumenta modularidade, testabilidade e capacidade de evolução.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Apoio rápido: contribuição: separar responsabilidades.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B37FB8B-26D1-4608-A1CE-AEF831F04D8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6 - Arquitetura em camadas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Explique a figura de baixo para cima: primeiro a conectividade física; depois a overlay que coordena peers, rotas e armazenamento; depois serviços reutilizáveis; e por fim aplicações. A fala importante é que modularidade não é só organização visual: significa que transporte, DHT, estratégia de rota e primitivas criptográficas podem evoluir sem reescrever a arquitetura inteira.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Apoio rápido: mapa mental: superior consome; inferior fornece.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8740F47-4928-453E-B7BA-C244CEC4FF5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7 - Identidade: físico != virtual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que o nó físico representa o processo real: socket, transporte, peers e conectividade. Já o virtual node representa uma identidade lógica usada por aplicações. A frase de defesa é: o endereço de rede não deve ser a identidade da aplicação. Essa separação dá flexibilidade, melhora modularidade e evita acoplamento direto entre perfil de aplicação e endpoint físico.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Apoio rápido: frase-chave: endereço de rede não é identidade.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9FF6D80-CA2F-4719-9127-ADBF1206592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8 - Distributed tables: coordenação entre camadas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Explique que o trabalho usa estruturas distribuídas inspiradas em DHT, mas não como uma tabela única que armazena tudo. Cada namespace tem uma função: DPNT para nós físicos, DRT para rotas, DDT para holders de conteúdo, DPT para ponteiros e DTT para tags. Reforce que no MVP a responsabilidade usa proximidade por XOR e replicação em K nós responsáveis, mas ainda não é uma Kademlia completa.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Apoio rápido: tabelas: coordenação entre descoberta, rotas e dados.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B3E7C55-782A-4A6E-8EE6-DA2AD855FBE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9 - Da descoberta à comunicação virtual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Descreva o fluxo: um virtual node quer alcançar outro; o core consulta registros distribuídos; resolve possíveis rotas; uma estratégia seleciona hops; a rota é executada por nós físicos; e por cima disso surge uma sessão virtual. A defesa importante é que a arquitetura separa o protocolo de rota da estratégia de seleção. No MVP, a estratégia principal é random_walk_ttl, enquanto outras estratégias ficam como pontos de extensão.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Apoio rápido: fluxo: descobrir -&gt; rotear -&gt; sessão -&gt; mensagem.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247FE02-C6B9-44FA-B525-9FA35B3864B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10 - Security model: autenticação, sigilo e crypto-agility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Explique os pilares: identificadores por hash de chave pública, assinaturas para autenticar registros, KEM pós-quântico para acordo de chave, criptografia autenticada para payloads e proof-of-work leve para publicação. Deixe claro que o MVP não deve ser vendido como produção auditada; ele valida o desenho da camada e mantém crypto-agility para substituições futuras.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Apoio rápido: segurança: identidade, assinatura, KEM e AEAD.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B1A8F11-B96F-4660-989C-5EB831A54FD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11 - MVP experimental: validação dos fluxos principais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que a implementação foi feita em Python para priorizar desenvolvimento, observabilidade, testes e instrumentação. O MVP usa TCP, UDP experimental com fragmentação binária compacta, relay-assisted forwarding, SQLite, API HTTP/WebSocket e uma PoC social. A frase importante é: o MVP valida fluxos arquiteturais, não maturidade de produção.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Apoio rápido: MVP: validar fluxos, não produto final.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88DC1BC-0FA8-4CDA-A3E0-319F8DDC51F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12 - Fluxos implementados e observabilidade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Explique que o objetivo do MVP foi validar o encadeamento completo de componentes: cluster, bootstrap, descoberta, DHT, DRT, rotas, sessões, mensagens, conteúdo e API. Aponte que o Debug Console foi importante porque permitiu observar peers, sessões, registros DHT, rotas e runtime state durante o experimento.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Apoio rápido: prova: teste integra camadas reais.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1142246-7E8B-4591-B36C-C6831FC673D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13 - Social PoC: aplicação real sobre a camada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Diga que a PoC social não é o produto final, mas uma aplicação demonstradora. Ela é importante porque força a camada a lidar com problemas reais de aplicação: perfis, posts, feed, amizades, resolução remota e mensagens diretas. O ponto de defesa é que a aplicação consome a camada via API local, então a rede pode sustentar outras aplicações futuras.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Apoio rápido: PoC: aplicação consumindo a overlay.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5E879AF-FA32-4503-B85E-22279980CCC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14 - Resultados observados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Apresente os resultados como evidência funcional. Não venda como benchmark de escala. Diga que os testes validaram cluster local/Docker, criação de virtual nodes, publicação DRT, sessões virtuais, mensagens, conteúdo e integração com a PoC social. A métrica central não é throughput; é integração funcional dos fluxos propostos.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Apoio rápido: resultado: o caminho completo funcionou.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4021DCA-11AD-4B07-92F6-A4E18773E0A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3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15 - Limitações assumidas do MVP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Este slide deve ser apresentado com tranquilidade. Diga que as limitações não invalidam o trabalho; elas delimitam o escopo. O MVP valida arquitetura e fluxos, mas ainda não possui defesa anti-abuso madura, NAT traversal completo, Kademlia completa, hardening de segurança, proteção forte contra correlação global, nem mecanismos de aplicação como moderação e paginação. Isso demonstra honestidade técnica e evita overclaim.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Apoio rápido: limites: maturidade pública ainda falta.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F018970-B65F-4CC0-809E-55D556A235A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3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16 - Roadmap técnico pós-MVP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Mostre que você sabe transformar limitação em plano de pesquisa. A ordem é importante: primeiro tornar a conectividade realista com NAT traversal, STUN/TURN, relays maduros e QUIC; depois completar a DHT/Kademlia e churn; em seguida fortalecer anti-abuso, scoring, rate limits e auditoria; e por fim testar escala e evoluir a PoC social com mídia, paginação, moderação e busca.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Apoio rápido: futuro: conectar, escalar, endurecer, auditar.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1137348-9849-4980-9414-FD22DB76B53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17 - Conclusão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Feche com a tese principal. Diga que o trabalho mostrou a viabilidade de uma arquitetura modular para redes overlay P2P descentralizadas, integrando comunicação segura, orientação à privacidade, persistência de dados e suporte a aplicações. Reforce que o MVP demonstrou os fluxos centrais em ambiente experimental e que as limitações foram assumidas de forma explícita. Termine afirmando que a contribuição é a base arquitetural, não uma rede pública pronta.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Apoio rápido: fechar: arquitetura validada + limites honestos.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4E7713F-188B-41CE-906E-E7DD110D85F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3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18 - Perguntas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 este slide como âncora para perguntas. Se perguntarem sobre anonimato, diga que é orientado à privacidade, não uma prova formal. Sobre NAT, diga que a arquitetura prevê, mas o MVP validou com TCP, UDP experimental e relay. Sobre DHT, diga que é inspirada em Kademlia, mas não completa. Sobre escala, diga que a validação foi funcional e arquitetural, não benchmark Internet-scale.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Apoio rápido: resposta-padrão: voltar ao escopo e à arquitetura.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B7F1917-63F1-405A-9C2A-93FE9244881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92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920" cy="3975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/mnt/data/tcc_assets/bg_right.png"/>
          <p:cNvPicPr/>
          <p:nvPr/>
        </p:nvPicPr>
        <p:blipFill>
          <a:blip r:embed="rId1"/>
          <a:stretch/>
        </p:blipFill>
        <p:spPr>
          <a:xfrm>
            <a:off x="6080760" y="0"/>
            <a:ext cx="6108480" cy="685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Shape 0"/>
          <p:cNvSpPr/>
          <p:nvPr/>
        </p:nvSpPr>
        <p:spPr>
          <a:xfrm>
            <a:off x="0" y="0"/>
            <a:ext cx="5849640" cy="6855480"/>
          </a:xfrm>
          <a:prstGeom prst="rect">
            <a:avLst/>
          </a:prstGeom>
          <a:solidFill>
            <a:srgbClr val="07111F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1"/>
          <p:cNvSpPr/>
          <p:nvPr/>
        </p:nvSpPr>
        <p:spPr>
          <a:xfrm>
            <a:off x="502920" y="502920"/>
            <a:ext cx="4295880" cy="619920"/>
          </a:xfrm>
          <a:prstGeom prst="roundRect">
            <a:avLst>
              <a:gd name="adj" fmla="val 16667"/>
            </a:avLst>
          </a:prstGeom>
          <a:solidFill>
            <a:srgbClr val="0A1F38"/>
          </a:solidFill>
          <a:ln w="10160">
            <a:solidFill>
              <a:srgbClr val="27D9FF">
                <a:alpha val="8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7D9FF"/>
                </a:solidFill>
                <a:effectLst/>
                <a:uFillTx/>
                <a:latin typeface="Aptos"/>
                <a:ea typeface="Aptos"/>
              </a:rPr>
              <a:t>DEFESA DE TCC · CIÊNCIA DA COMPUTAÇÃO · UFSC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2"/>
          <p:cNvSpPr/>
          <p:nvPr/>
        </p:nvSpPr>
        <p:spPr>
          <a:xfrm>
            <a:off x="502920" y="1353240"/>
            <a:ext cx="5713200" cy="23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80" b="1" u="none" strike="noStrike">
                <a:solidFill>
                  <a:srgbClr val="F4F8FF"/>
                </a:solidFill>
                <a:effectLst/>
                <a:uFillTx/>
                <a:latin typeface="Aptos Display"/>
                <a:ea typeface="Aptos Display"/>
              </a:rPr>
              <a:t>A Modular Architecture for</a:t>
            </a:r>
            <a:endParaRPr lang="en-US" sz="34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80" b="1" u="none" strike="noStrike">
                <a:solidFill>
                  <a:srgbClr val="F4F8FF"/>
                </a:solidFill>
                <a:effectLst/>
                <a:uFillTx/>
                <a:latin typeface="Aptos Display"/>
                <a:ea typeface="Aptos Display"/>
              </a:rPr>
              <a:t>Decentralized Peer-to-Peer</a:t>
            </a:r>
            <a:endParaRPr lang="en-US" sz="34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80" b="1" u="none" strike="noStrike">
                <a:solidFill>
                  <a:srgbClr val="F4F8FF"/>
                </a:solidFill>
                <a:effectLst/>
                <a:uFillTx/>
                <a:latin typeface="Aptos Display"/>
                <a:ea typeface="Aptos Display"/>
              </a:rPr>
              <a:t>Overlay Networks</a:t>
            </a:r>
            <a:endParaRPr lang="en-US" sz="34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3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 w="38100">
            <a:solidFill>
              <a:srgbClr val="27D9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502920" y="3822120"/>
            <a:ext cx="55760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AAB7CA"/>
                </a:solidFill>
                <a:effectLst/>
                <a:uFillTx/>
                <a:latin typeface="Aptos"/>
                <a:ea typeface="Aptos"/>
              </a:rPr>
              <a:t>Supporting secure and privacy-oriented communication,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AAB7CA"/>
                </a:solidFill>
                <a:effectLst/>
                <a:uFillTx/>
                <a:latin typeface="Aptos"/>
                <a:ea typeface="Aptos"/>
              </a:rPr>
              <a:t>data persistence, and decentralized applications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5"/>
          <p:cNvSpPr/>
          <p:nvPr/>
        </p:nvSpPr>
        <p:spPr>
          <a:xfrm>
            <a:off x="438120" y="5268240"/>
            <a:ext cx="4552920" cy="57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Anderson Simioni Assunção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Orientador: Carlos Becker Westphall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6"/>
          <p:cNvSpPr/>
          <p:nvPr/>
        </p:nvSpPr>
        <p:spPr>
          <a:xfrm>
            <a:off x="10744200" y="5806440"/>
            <a:ext cx="638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7D9FF"/>
                </a:solidFill>
                <a:effectLst/>
                <a:uFillTx/>
                <a:latin typeface="Aptos"/>
                <a:ea typeface="Aptos"/>
              </a:rPr>
              <a:t>2026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" name=""/>
          <p:cNvPicPr/>
          <p:nvPr/>
        </p:nvPicPr>
        <p:blipFill>
          <a:blip r:embed="rId2"/>
          <a:stretch/>
        </p:blipFill>
        <p:spPr>
          <a:xfrm>
            <a:off x="7248600" y="457200"/>
            <a:ext cx="3723840" cy="5065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0"/>
          <p:cNvSpPr/>
          <p:nvPr/>
        </p:nvSpPr>
        <p:spPr>
          <a:xfrm>
            <a:off x="530280" y="1417320"/>
            <a:ext cx="3061440" cy="1827000"/>
          </a:xfrm>
          <a:prstGeom prst="roundRect">
            <a:avLst>
              <a:gd name="adj" fmla="val 16667"/>
            </a:avLst>
          </a:prstGeom>
          <a:solidFill>
            <a:srgbClr val="0F2440"/>
          </a:solidFill>
          <a:ln w="13970">
            <a:solidFill>
              <a:srgbClr val="FF5D6C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t">
            <a:norm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5D6C"/>
                </a:solidFill>
                <a:effectLst/>
                <a:uFillTx/>
                <a:latin typeface="Aptos"/>
                <a:ea typeface="Aptos"/>
              </a:rPr>
              <a:t>Centralização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Serviços concentram identidade, dados, mediação de comunicação e pontos de controle.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"/>
          <p:cNvSpPr/>
          <p:nvPr/>
        </p:nvSpPr>
        <p:spPr>
          <a:xfrm>
            <a:off x="4572000" y="1417320"/>
            <a:ext cx="3061440" cy="1827000"/>
          </a:xfrm>
          <a:prstGeom prst="roundRect">
            <a:avLst>
              <a:gd name="adj" fmla="val 16667"/>
            </a:avLst>
          </a:prstGeom>
          <a:solidFill>
            <a:srgbClr val="0F2440"/>
          </a:solidFill>
          <a:ln w="13970">
            <a:solidFill>
              <a:srgbClr val="F6B84B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t">
            <a:norm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6B84B"/>
                </a:solidFill>
                <a:effectLst/>
                <a:uFillTx/>
                <a:latin typeface="Aptos"/>
                <a:ea typeface="Aptos"/>
              </a:rPr>
              <a:t>P2P real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A rede precisa lidar com descoberta de pares, NAT traversal, rotas, churn e heterogeneidade.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2"/>
          <p:cNvSpPr/>
          <p:nvPr/>
        </p:nvSpPr>
        <p:spPr>
          <a:xfrm>
            <a:off x="8595360" y="1417320"/>
            <a:ext cx="3061440" cy="1827000"/>
          </a:xfrm>
          <a:prstGeom prst="roundRect">
            <a:avLst>
              <a:gd name="adj" fmla="val 16667"/>
            </a:avLst>
          </a:prstGeom>
          <a:solidFill>
            <a:srgbClr val="0F2440"/>
          </a:solidFill>
          <a:ln w="13970">
            <a:solidFill>
              <a:srgbClr val="27D9FF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t">
            <a:norm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27D9FF"/>
                </a:solidFill>
                <a:effectLst/>
                <a:uFillTx/>
                <a:latin typeface="Aptos"/>
                <a:ea typeface="Aptos"/>
              </a:rPr>
              <a:t>Segurança futura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Sistemas persistentes exigem criptografia flexível e preparação para ameaças pós-quânticas.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3"/>
          <p:cNvSpPr/>
          <p:nvPr/>
        </p:nvSpPr>
        <p:spPr>
          <a:xfrm>
            <a:off x="841320" y="4572000"/>
            <a:ext cx="10513800" cy="592560"/>
          </a:xfrm>
          <a:prstGeom prst="roundRect">
            <a:avLst>
              <a:gd name="adj" fmla="val 16667"/>
            </a:avLst>
          </a:prstGeom>
          <a:solidFill>
            <a:srgbClr val="07111F"/>
          </a:solidFill>
          <a:ln w="7620">
            <a:solidFill>
              <a:srgbClr val="2445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27D9FF"/>
                </a:solidFill>
                <a:effectLst/>
                <a:uFillTx/>
                <a:latin typeface="Aptos"/>
                <a:ea typeface="Aptos"/>
              </a:rPr>
              <a:t>Descentralização sem arquitetura vira apenas distribuição de complexidade.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4"/>
          <p:cNvSpPr/>
          <p:nvPr/>
        </p:nvSpPr>
        <p:spPr>
          <a:xfrm>
            <a:off x="411480" y="311040"/>
            <a:ext cx="8456400" cy="61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4F8FF"/>
                </a:solidFill>
                <a:effectLst/>
                <a:uFillTx/>
                <a:latin typeface="Aptos Display"/>
                <a:ea typeface="Aptos Display"/>
              </a:rPr>
              <a:t>O problema não é apenas descentralizar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5"/>
          <p:cNvSpPr/>
          <p:nvPr/>
        </p:nvSpPr>
        <p:spPr>
          <a:xfrm>
            <a:off x="420480" y="758880"/>
            <a:ext cx="1123668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rmAutofit fontScale="550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AAB7CA"/>
                </a:solidFill>
                <a:effectLst/>
                <a:uFillTx/>
                <a:latin typeface="Aptos"/>
                <a:ea typeface="Aptos"/>
              </a:rPr>
              <a:t>Uma rede descentralizada real precisa resolver conectividade, descoberta, segurança, privacidade e persistência.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6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 w="12700">
            <a:solidFill>
              <a:srgbClr val="27D9FF">
                <a:alpha val="8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7"/>
          <p:cNvSpPr/>
          <p:nvPr/>
        </p:nvSpPr>
        <p:spPr>
          <a:xfrm>
            <a:off x="9052560" y="301680"/>
            <a:ext cx="2649960" cy="318240"/>
          </a:xfrm>
          <a:prstGeom prst="roundRect">
            <a:avLst>
              <a:gd name="adj" fmla="val 16667"/>
            </a:avLst>
          </a:prstGeom>
          <a:solidFill>
            <a:srgbClr val="0E315D">
              <a:alpha val="98000"/>
            </a:srgbClr>
          </a:solidFill>
          <a:ln w="9525">
            <a:solidFill>
              <a:srgbClr val="164A8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1" u="none" strike="noStrike">
                <a:solidFill>
                  <a:srgbClr val="27D9FF"/>
                </a:solidFill>
                <a:effectLst/>
                <a:uFillTx/>
                <a:latin typeface="Aptos"/>
                <a:ea typeface="Aptos"/>
              </a:rPr>
              <a:t>02 · ATO 1 · MOTIVAÇÃO</a:t>
            </a:r>
            <a:endParaRPr lang="en-US" sz="11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8"/>
          <p:cNvSpPr/>
          <p:nvPr/>
        </p:nvSpPr>
        <p:spPr>
          <a:xfrm>
            <a:off x="11448360" y="6528960"/>
            <a:ext cx="31752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66738A"/>
                </a:solidFill>
                <a:effectLst/>
                <a:uFillTx/>
                <a:latin typeface="Aptos"/>
                <a:ea typeface="Aptos"/>
              </a:rPr>
              <a:t>02</a:t>
            </a:r>
            <a:endParaRPr lang="en-US" sz="9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9"/>
          <p:cNvSpPr/>
          <p:nvPr/>
        </p:nvSpPr>
        <p:spPr>
          <a:xfrm>
            <a:off x="420480" y="6629400"/>
            <a:ext cx="338076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0" u="none" strike="noStrike">
                <a:solidFill>
                  <a:srgbClr val="66738A"/>
                </a:solidFill>
                <a:effectLst/>
                <a:uFillTx/>
                <a:latin typeface="Aptos"/>
                <a:ea typeface="Aptos"/>
              </a:rPr>
              <a:t>ATO 1 · MOTIVAÇÃO</a:t>
            </a:r>
            <a:endParaRPr lang="en-US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Presenter Helper 02"/>
          <p:cNvSpPr/>
          <p:nvPr/>
        </p:nvSpPr>
        <p:spPr>
          <a:xfrm>
            <a:off x="411480" y="6181200"/>
            <a:ext cx="10650960" cy="382320"/>
          </a:xfrm>
          <a:prstGeom prst="roundRect">
            <a:avLst>
              <a:gd name="adj" fmla="val 16667"/>
            </a:avLst>
          </a:prstGeom>
          <a:solidFill>
            <a:srgbClr val="05121F"/>
          </a:solidFill>
          <a:ln>
            <a:solidFill>
              <a:srgbClr val="00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2040" tIns="27360" rIns="32040" bIns="2736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420" b="0" i="1" u="none" strike="noStrike">
                <a:solidFill>
                  <a:srgbClr val="AADCEB"/>
                </a:solidFill>
                <a:effectLst/>
                <a:uFillTx/>
                <a:latin typeface="Aptos"/>
              </a:rPr>
              <a:t>Problema: descentralizar também cria complexidade</a:t>
            </a:r>
            <a:endParaRPr lang="en-US" sz="14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 0" descr="/mnt/data/tcc_assets/prisma.png"/>
          <p:cNvPicPr/>
          <p:nvPr/>
        </p:nvPicPr>
        <p:blipFill>
          <a:blip r:embed="rId1"/>
          <a:stretch/>
        </p:blipFill>
        <p:spPr>
          <a:xfrm>
            <a:off x="502920" y="1325880"/>
            <a:ext cx="3701520" cy="3408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Text 0"/>
          <p:cNvSpPr/>
          <p:nvPr/>
        </p:nvSpPr>
        <p:spPr>
          <a:xfrm>
            <a:off x="502920" y="4800600"/>
            <a:ext cx="370152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AAB7CA"/>
                </a:solidFill>
                <a:effectLst/>
                <a:uFillTx/>
                <a:latin typeface="Aptos"/>
                <a:ea typeface="Aptos"/>
              </a:rPr>
              <a:t>PRISMA: 2581 registros -&gt; 6 estudos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"/>
          <p:cNvSpPr/>
          <p:nvPr/>
        </p:nvSpPr>
        <p:spPr>
          <a:xfrm>
            <a:off x="4300920" y="1358640"/>
            <a:ext cx="1499760" cy="956520"/>
          </a:xfrm>
          <a:prstGeom prst="roundRect">
            <a:avLst>
              <a:gd name="adj" fmla="val 16667"/>
            </a:avLst>
          </a:prstGeom>
          <a:solidFill>
            <a:srgbClr val="0D2745"/>
          </a:solidFill>
          <a:ln w="13970">
            <a:solidFill>
              <a:srgbClr val="27D9FF">
                <a:alpha val="9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2581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registros recuperados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2"/>
          <p:cNvSpPr/>
          <p:nvPr/>
        </p:nvSpPr>
        <p:spPr>
          <a:xfrm>
            <a:off x="5882760" y="1358640"/>
            <a:ext cx="1499760" cy="956520"/>
          </a:xfrm>
          <a:prstGeom prst="roundRect">
            <a:avLst>
              <a:gd name="adj" fmla="val 16667"/>
            </a:avLst>
          </a:prstGeom>
          <a:solidFill>
            <a:srgbClr val="0D2745"/>
          </a:solidFill>
          <a:ln w="13970">
            <a:solidFill>
              <a:srgbClr val="F6B84B">
                <a:alpha val="9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17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full-text avaliados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3"/>
          <p:cNvSpPr/>
          <p:nvPr/>
        </p:nvSpPr>
        <p:spPr>
          <a:xfrm>
            <a:off x="7464600" y="1358640"/>
            <a:ext cx="1499760" cy="956520"/>
          </a:xfrm>
          <a:prstGeom prst="roundRect">
            <a:avLst>
              <a:gd name="adj" fmla="val 16667"/>
            </a:avLst>
          </a:prstGeom>
          <a:solidFill>
            <a:srgbClr val="0D2745"/>
          </a:solidFill>
          <a:ln w="13970">
            <a:solidFill>
              <a:srgbClr val="28D17C">
                <a:alpha val="9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6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estudos finais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4"/>
          <p:cNvSpPr/>
          <p:nvPr/>
        </p:nvSpPr>
        <p:spPr>
          <a:xfrm>
            <a:off x="4343400" y="2514600"/>
            <a:ext cx="7084800" cy="1571040"/>
          </a:xfrm>
          <a:prstGeom prst="roundRect">
            <a:avLst>
              <a:gd name="adj" fmla="val 16667"/>
            </a:avLst>
          </a:prstGeom>
          <a:solidFill>
            <a:srgbClr val="0F2440"/>
          </a:solidFill>
          <a:ln w="13970">
            <a:solidFill>
              <a:srgbClr val="27D9FF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t">
            <a:normAutofit/>
          </a:bodyPr>
          <a:p>
            <a:pPr>
              <a:lnSpc>
                <a:spcPct val="100000"/>
              </a:lnSpc>
            </a:pPr>
            <a:r>
              <a:rPr lang="en-US" sz="1700" b="1" u="none" strike="noStrike">
                <a:solidFill>
                  <a:srgbClr val="27D9FF"/>
                </a:solidFill>
                <a:effectLst/>
                <a:uFillTx/>
                <a:latin typeface="Aptos"/>
                <a:ea typeface="Aptos"/>
              </a:rPr>
              <a:t>Lacuna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Tor/I2P, IPFS, DHTs e PQC resolvem partes diferentes do problema. A lacuna está na integração arquitetural desses eixos em uma base modular comum.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5"/>
          <p:cNvSpPr/>
          <p:nvPr/>
        </p:nvSpPr>
        <p:spPr>
          <a:xfrm>
            <a:off x="4443840" y="4316040"/>
            <a:ext cx="6901920" cy="141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- P2P/decentralização</a:t>
            </a:r>
            <a:endParaRPr lang="en-US" sz="172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- Privacidade/anonymity-oriented routing</a:t>
            </a:r>
            <a:endParaRPr lang="en-US" sz="172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- Segurança e criptografia</a:t>
            </a:r>
            <a:endParaRPr lang="en-US" sz="172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- Roteamento, descoberta, NAT e persistência</a:t>
            </a:r>
            <a:endParaRPr lang="en-US" sz="172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6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 w="25400">
            <a:solidFill>
              <a:srgbClr val="28D17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7"/>
          <p:cNvSpPr/>
          <p:nvPr/>
        </p:nvSpPr>
        <p:spPr>
          <a:xfrm>
            <a:off x="411480" y="311040"/>
            <a:ext cx="8456400" cy="61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4F8FF"/>
                </a:solidFill>
                <a:effectLst/>
                <a:uFillTx/>
                <a:latin typeface="Aptos Display"/>
                <a:ea typeface="Aptos Display"/>
              </a:rPr>
              <a:t>Revisão sistemática e lacuna encontrada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8"/>
          <p:cNvSpPr/>
          <p:nvPr/>
        </p:nvSpPr>
        <p:spPr>
          <a:xfrm>
            <a:off x="420480" y="758880"/>
            <a:ext cx="941652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AAB7CA"/>
                </a:solidFill>
                <a:effectLst/>
                <a:uFillTx/>
                <a:latin typeface="Aptos"/>
                <a:ea typeface="Aptos"/>
              </a:rPr>
              <a:t>O conjunto final foi pequeno porque exigia uma interseção técnica muito específica.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9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 w="12700">
            <a:solidFill>
              <a:srgbClr val="27D9FF">
                <a:alpha val="8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0"/>
          <p:cNvSpPr/>
          <p:nvPr/>
        </p:nvSpPr>
        <p:spPr>
          <a:xfrm>
            <a:off x="9052560" y="301680"/>
            <a:ext cx="2649960" cy="318240"/>
          </a:xfrm>
          <a:prstGeom prst="roundRect">
            <a:avLst>
              <a:gd name="adj" fmla="val 16667"/>
            </a:avLst>
          </a:prstGeom>
          <a:solidFill>
            <a:srgbClr val="0E315D">
              <a:alpha val="98000"/>
            </a:srgbClr>
          </a:solidFill>
          <a:ln w="9525">
            <a:solidFill>
              <a:srgbClr val="164A8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1" u="none" strike="noStrike">
                <a:solidFill>
                  <a:srgbClr val="27D9FF"/>
                </a:solidFill>
                <a:effectLst/>
                <a:uFillTx/>
                <a:latin typeface="Aptos"/>
                <a:ea typeface="Aptos"/>
              </a:rPr>
              <a:t>03 · ATO 1 · LACUNA</a:t>
            </a:r>
            <a:endParaRPr lang="en-US" sz="11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1"/>
          <p:cNvSpPr/>
          <p:nvPr/>
        </p:nvSpPr>
        <p:spPr>
          <a:xfrm>
            <a:off x="11448360" y="6528960"/>
            <a:ext cx="31752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66738A"/>
                </a:solidFill>
                <a:effectLst/>
                <a:uFillTx/>
                <a:latin typeface="Aptos"/>
                <a:ea typeface="Aptos"/>
              </a:rPr>
              <a:t>03</a:t>
            </a:r>
            <a:endParaRPr lang="en-US" sz="9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2"/>
          <p:cNvSpPr/>
          <p:nvPr/>
        </p:nvSpPr>
        <p:spPr>
          <a:xfrm>
            <a:off x="420480" y="6629400"/>
            <a:ext cx="338076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0" u="none" strike="noStrike">
                <a:solidFill>
                  <a:srgbClr val="66738A"/>
                </a:solidFill>
                <a:effectLst/>
                <a:uFillTx/>
                <a:latin typeface="Aptos"/>
                <a:ea typeface="Aptos"/>
              </a:rPr>
              <a:t>ATO 1 · LACUNA</a:t>
            </a:r>
            <a:endParaRPr lang="en-US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Presenter Helper 03"/>
          <p:cNvSpPr/>
          <p:nvPr/>
        </p:nvSpPr>
        <p:spPr>
          <a:xfrm>
            <a:off x="411480" y="6181200"/>
            <a:ext cx="10650960" cy="382320"/>
          </a:xfrm>
          <a:prstGeom prst="roundRect">
            <a:avLst>
              <a:gd name="adj" fmla="val 16667"/>
            </a:avLst>
          </a:prstGeom>
          <a:solidFill>
            <a:srgbClr val="05121F"/>
          </a:solidFill>
          <a:ln>
            <a:solidFill>
              <a:srgbClr val="00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2040" tIns="27360" rIns="32040" bIns="2736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420" b="0" i="1" u="none" strike="noStrike">
                <a:solidFill>
                  <a:srgbClr val="AADCEB"/>
                </a:solidFill>
                <a:effectLst/>
                <a:uFillTx/>
                <a:latin typeface="Aptos"/>
              </a:rPr>
              <a:t>Lacuna: integração, não falta de peças</a:t>
            </a:r>
            <a:endParaRPr lang="en-US" sz="14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 0"/>
          <p:cNvSpPr/>
          <p:nvPr/>
        </p:nvSpPr>
        <p:spPr>
          <a:xfrm>
            <a:off x="658440" y="1325880"/>
            <a:ext cx="10879560" cy="2101680"/>
          </a:xfrm>
          <a:prstGeom prst="roundRect">
            <a:avLst>
              <a:gd name="adj" fmla="val 16667"/>
            </a:avLst>
          </a:prstGeom>
          <a:solidFill>
            <a:srgbClr val="0B213B"/>
          </a:solidFill>
          <a:ln w="13970">
            <a:solidFill>
              <a:srgbClr val="27D9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4F8FF"/>
                </a:solidFill>
                <a:effectLst/>
                <a:uFillTx/>
                <a:latin typeface="Aptos Display"/>
                <a:ea typeface="Aptos Display"/>
              </a:rPr>
              <a:t>Como estruturar uma camada overlay P2P capaz de combinar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4F8FF"/>
                </a:solidFill>
                <a:effectLst/>
                <a:uFillTx/>
                <a:latin typeface="Aptos Display"/>
                <a:ea typeface="Aptos Display"/>
              </a:rPr>
              <a:t>comunicação segura, orientação à privacidade, descoberta,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4F8FF"/>
                </a:solidFill>
                <a:effectLst/>
                <a:uFillTx/>
                <a:latin typeface="Aptos Display"/>
                <a:ea typeface="Aptos Display"/>
              </a:rPr>
              <a:t>roteamento, persistência e suporte a aplicações?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"/>
          <p:cNvSpPr/>
          <p:nvPr/>
        </p:nvSpPr>
        <p:spPr>
          <a:xfrm>
            <a:off x="640080" y="3785760"/>
            <a:ext cx="2147040" cy="839520"/>
          </a:xfrm>
          <a:prstGeom prst="roundRect">
            <a:avLst>
              <a:gd name="adj" fmla="val 16667"/>
            </a:avLst>
          </a:prstGeom>
          <a:solidFill>
            <a:srgbClr val="0F2440"/>
          </a:solidFill>
          <a:ln w="13970">
            <a:solidFill>
              <a:srgbClr val="27D9FF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t">
            <a:normAutofit/>
          </a:bodyPr>
          <a:p>
            <a:pPr>
              <a:lnSpc>
                <a:spcPct val="100000"/>
              </a:lnSpc>
            </a:pPr>
            <a:r>
              <a:rPr lang="en-US" sz="1520" b="1" u="none" strike="noStrike">
                <a:solidFill>
                  <a:srgbClr val="27D9FF"/>
                </a:solidFill>
                <a:effectLst/>
                <a:uFillTx/>
                <a:latin typeface="Aptos"/>
                <a:ea typeface="Aptos"/>
              </a:rPr>
              <a:t>Projetar</a:t>
            </a:r>
            <a:endParaRPr lang="en-US" sz="1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arquitetura modular</a:t>
            </a:r>
            <a:endParaRPr lang="en-US" sz="1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2"/>
          <p:cNvSpPr/>
          <p:nvPr/>
        </p:nvSpPr>
        <p:spPr>
          <a:xfrm>
            <a:off x="2787120" y="4343400"/>
            <a:ext cx="733320" cy="0"/>
          </a:xfrm>
          <a:prstGeom prst="line">
            <a:avLst/>
          </a:prstGeom>
          <a:ln w="15875">
            <a:solidFill>
              <a:srgbClr val="244567">
                <a:alpha val="95000"/>
              </a:srgbClr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3"/>
          <p:cNvSpPr/>
          <p:nvPr/>
        </p:nvSpPr>
        <p:spPr>
          <a:xfrm>
            <a:off x="3520440" y="3785760"/>
            <a:ext cx="2147040" cy="839520"/>
          </a:xfrm>
          <a:prstGeom prst="roundRect">
            <a:avLst>
              <a:gd name="adj" fmla="val 16667"/>
            </a:avLst>
          </a:prstGeom>
          <a:solidFill>
            <a:srgbClr val="0F2440"/>
          </a:solidFill>
          <a:ln w="13970">
            <a:solidFill>
              <a:srgbClr val="2F83FF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t">
            <a:normAutofit/>
          </a:bodyPr>
          <a:p>
            <a:pPr>
              <a:lnSpc>
                <a:spcPct val="100000"/>
              </a:lnSpc>
            </a:pPr>
            <a:r>
              <a:rPr lang="en-US" sz="1520" b="1" u="none" strike="noStrike">
                <a:solidFill>
                  <a:srgbClr val="2F83FF"/>
                </a:solidFill>
                <a:effectLst/>
                <a:uFillTx/>
                <a:latin typeface="Aptos"/>
                <a:ea typeface="Aptos"/>
              </a:rPr>
              <a:t>Implementar</a:t>
            </a:r>
            <a:endParaRPr lang="en-US" sz="1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MVP experimental</a:t>
            </a:r>
            <a:endParaRPr lang="en-US" sz="1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4"/>
          <p:cNvSpPr/>
          <p:nvPr/>
        </p:nvSpPr>
        <p:spPr>
          <a:xfrm>
            <a:off x="5667480" y="4343400"/>
            <a:ext cx="733320" cy="0"/>
          </a:xfrm>
          <a:prstGeom prst="line">
            <a:avLst/>
          </a:prstGeom>
          <a:ln w="15875">
            <a:solidFill>
              <a:srgbClr val="244567">
                <a:alpha val="95000"/>
              </a:srgbClr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5"/>
          <p:cNvSpPr/>
          <p:nvPr/>
        </p:nvSpPr>
        <p:spPr>
          <a:xfrm>
            <a:off x="6400800" y="3785760"/>
            <a:ext cx="2147040" cy="839520"/>
          </a:xfrm>
          <a:prstGeom prst="roundRect">
            <a:avLst>
              <a:gd name="adj" fmla="val 16667"/>
            </a:avLst>
          </a:prstGeom>
          <a:solidFill>
            <a:srgbClr val="0F2440"/>
          </a:solidFill>
          <a:ln w="13970">
            <a:solidFill>
              <a:srgbClr val="28D17C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t">
            <a:normAutofit/>
          </a:bodyPr>
          <a:p>
            <a:pPr>
              <a:lnSpc>
                <a:spcPct val="100000"/>
              </a:lnSpc>
            </a:pPr>
            <a:r>
              <a:rPr lang="en-US" sz="1520" b="1" u="none" strike="noStrike">
                <a:solidFill>
                  <a:srgbClr val="28D17C"/>
                </a:solidFill>
                <a:effectLst/>
                <a:uFillTx/>
                <a:latin typeface="Aptos"/>
                <a:ea typeface="Aptos"/>
              </a:rPr>
              <a:t>Validar</a:t>
            </a:r>
            <a:endParaRPr lang="en-US" sz="1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fluxos principais</a:t>
            </a:r>
            <a:endParaRPr lang="en-US" sz="1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6"/>
          <p:cNvSpPr/>
          <p:nvPr/>
        </p:nvSpPr>
        <p:spPr>
          <a:xfrm>
            <a:off x="8547840" y="4343400"/>
            <a:ext cx="641880" cy="0"/>
          </a:xfrm>
          <a:prstGeom prst="line">
            <a:avLst/>
          </a:prstGeom>
          <a:ln w="15875">
            <a:solidFill>
              <a:srgbClr val="244567">
                <a:alpha val="95000"/>
              </a:srgbClr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7"/>
          <p:cNvSpPr/>
          <p:nvPr/>
        </p:nvSpPr>
        <p:spPr>
          <a:xfrm>
            <a:off x="9189720" y="3785760"/>
            <a:ext cx="2147040" cy="839520"/>
          </a:xfrm>
          <a:prstGeom prst="roundRect">
            <a:avLst>
              <a:gd name="adj" fmla="val 16667"/>
            </a:avLst>
          </a:prstGeom>
          <a:solidFill>
            <a:srgbClr val="0F2440"/>
          </a:solidFill>
          <a:ln w="13970">
            <a:solidFill>
              <a:srgbClr val="8A6DFF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t">
            <a:normAutofit/>
          </a:bodyPr>
          <a:p>
            <a:pPr>
              <a:lnSpc>
                <a:spcPct val="100000"/>
              </a:lnSpc>
            </a:pPr>
            <a:r>
              <a:rPr lang="en-US" sz="1520" b="1" u="none" strike="noStrike">
                <a:solidFill>
                  <a:srgbClr val="8A6DFF"/>
                </a:solidFill>
                <a:effectLst/>
                <a:uFillTx/>
                <a:latin typeface="Aptos"/>
                <a:ea typeface="Aptos"/>
              </a:rPr>
              <a:t>Demonstrar</a:t>
            </a:r>
            <a:endParaRPr lang="en-US" sz="1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PoC social</a:t>
            </a:r>
            <a:endParaRPr lang="en-US" sz="1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8"/>
          <p:cNvSpPr/>
          <p:nvPr/>
        </p:nvSpPr>
        <p:spPr>
          <a:xfrm>
            <a:off x="411480" y="311040"/>
            <a:ext cx="8456400" cy="61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4F8FF"/>
                </a:solidFill>
                <a:effectLst/>
                <a:uFillTx/>
                <a:latin typeface="Aptos Display"/>
                <a:ea typeface="Aptos Display"/>
              </a:rPr>
              <a:t>Pergunta de pesquisa e objetivo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9"/>
          <p:cNvSpPr/>
          <p:nvPr/>
        </p:nvSpPr>
        <p:spPr>
          <a:xfrm>
            <a:off x="420480" y="758880"/>
            <a:ext cx="941652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AAB7CA"/>
                </a:solidFill>
                <a:effectLst/>
                <a:uFillTx/>
                <a:latin typeface="Aptos"/>
                <a:ea typeface="Aptos"/>
              </a:rPr>
              <a:t>A apresentação gira em torno de uma pergunta arquitetural.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10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 w="12700">
            <a:solidFill>
              <a:srgbClr val="27D9FF">
                <a:alpha val="8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1"/>
          <p:cNvSpPr/>
          <p:nvPr/>
        </p:nvSpPr>
        <p:spPr>
          <a:xfrm>
            <a:off x="9052560" y="301680"/>
            <a:ext cx="2649960" cy="318240"/>
          </a:xfrm>
          <a:prstGeom prst="roundRect">
            <a:avLst>
              <a:gd name="adj" fmla="val 16667"/>
            </a:avLst>
          </a:prstGeom>
          <a:solidFill>
            <a:srgbClr val="0E315D">
              <a:alpha val="98000"/>
            </a:srgbClr>
          </a:solidFill>
          <a:ln w="9525">
            <a:solidFill>
              <a:srgbClr val="164A8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1" u="none" strike="noStrike">
                <a:solidFill>
                  <a:srgbClr val="27D9FF"/>
                </a:solidFill>
                <a:effectLst/>
                <a:uFillTx/>
                <a:latin typeface="Aptos"/>
                <a:ea typeface="Aptos"/>
              </a:rPr>
              <a:t>04 · ATO 1 · OBJETIVO</a:t>
            </a:r>
            <a:endParaRPr lang="en-US" sz="11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2"/>
          <p:cNvSpPr/>
          <p:nvPr/>
        </p:nvSpPr>
        <p:spPr>
          <a:xfrm>
            <a:off x="11448360" y="6528960"/>
            <a:ext cx="31752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66738A"/>
                </a:solidFill>
                <a:effectLst/>
                <a:uFillTx/>
                <a:latin typeface="Aptos"/>
                <a:ea typeface="Aptos"/>
              </a:rPr>
              <a:t>04</a:t>
            </a:r>
            <a:endParaRPr lang="en-US" sz="9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3"/>
          <p:cNvSpPr/>
          <p:nvPr/>
        </p:nvSpPr>
        <p:spPr>
          <a:xfrm>
            <a:off x="420480" y="6629400"/>
            <a:ext cx="338076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0" u="none" strike="noStrike">
                <a:solidFill>
                  <a:srgbClr val="66738A"/>
                </a:solidFill>
                <a:effectLst/>
                <a:uFillTx/>
                <a:latin typeface="Aptos"/>
                <a:ea typeface="Aptos"/>
              </a:rPr>
              <a:t>ATO 1 · OBJETIVO</a:t>
            </a:r>
            <a:endParaRPr lang="en-US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Presenter Helper 04"/>
          <p:cNvSpPr/>
          <p:nvPr/>
        </p:nvSpPr>
        <p:spPr>
          <a:xfrm>
            <a:off x="411480" y="6181200"/>
            <a:ext cx="10650960" cy="382320"/>
          </a:xfrm>
          <a:prstGeom prst="roundRect">
            <a:avLst>
              <a:gd name="adj" fmla="val 16667"/>
            </a:avLst>
          </a:prstGeom>
          <a:solidFill>
            <a:srgbClr val="05121F"/>
          </a:solidFill>
          <a:ln>
            <a:solidFill>
              <a:srgbClr val="00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2040" tIns="27360" rIns="32040" bIns="2736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420" b="0" i="1" u="none" strike="noStrike">
                <a:solidFill>
                  <a:srgbClr val="AADCEB"/>
                </a:solidFill>
                <a:effectLst/>
                <a:uFillTx/>
                <a:latin typeface="Aptos"/>
              </a:rPr>
              <a:t>Pergunta: como organizar a camada?</a:t>
            </a:r>
            <a:endParaRPr lang="en-US" sz="14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1371600" y="4773240"/>
            <a:ext cx="8959680" cy="1169280"/>
          </a:xfrm>
          <a:prstGeom prst="roundRect">
            <a:avLst>
              <a:gd name="adj" fmla="val 16667"/>
            </a:avLst>
          </a:prstGeom>
          <a:solidFill>
            <a:srgbClr val="06233B"/>
          </a:solidFill>
          <a:ln w="13970">
            <a:solidFill>
              <a:srgbClr val="00B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2440" tIns="45000" rIns="73080" bIns="36720" anchor="ctr">
            <a:norm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BE96"/>
                </a:solidFill>
                <a:effectLst/>
                <a:uFillTx/>
                <a:latin typeface="Aptos"/>
              </a:rPr>
              <a:t>Escopo de validação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</a:pPr>
            <a:r>
              <a:rPr lang="en-US" sz="1800" b="0" u="none" strike="noStrike">
                <a:solidFill>
                  <a:srgbClr val="EEF7FF"/>
                </a:solidFill>
                <a:effectLst/>
                <a:uFillTx/>
                <a:latin typeface="Aptos"/>
              </a:rPr>
              <a:t>Arquitetura + implementação experimental + fluxos principais. A defesa não vende benchmark Internet-scale.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0"/>
          <p:cNvSpPr/>
          <p:nvPr/>
        </p:nvSpPr>
        <p:spPr>
          <a:xfrm>
            <a:off x="2467440" y="2971800"/>
            <a:ext cx="275760" cy="360"/>
          </a:xfrm>
          <a:prstGeom prst="line">
            <a:avLst/>
          </a:prstGeom>
          <a:ln w="15875">
            <a:solidFill>
              <a:srgbClr val="27D9FF">
                <a:alpha val="95000"/>
              </a:srgbClr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"/>
          <p:cNvSpPr/>
          <p:nvPr/>
        </p:nvSpPr>
        <p:spPr>
          <a:xfrm>
            <a:off x="411480" y="2139840"/>
            <a:ext cx="2055600" cy="1296720"/>
          </a:xfrm>
          <a:prstGeom prst="roundRect">
            <a:avLst>
              <a:gd name="adj" fmla="val 16667"/>
            </a:avLst>
          </a:prstGeom>
          <a:solidFill>
            <a:srgbClr val="0F2440"/>
          </a:solidFill>
          <a:ln w="13970">
            <a:solidFill>
              <a:srgbClr val="2F83FF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t">
            <a:normAutofit/>
          </a:bodyPr>
          <a:p>
            <a:pPr>
              <a:lnSpc>
                <a:spcPct val="100000"/>
              </a:lnSpc>
            </a:pPr>
            <a:r>
              <a:rPr lang="en-US" sz="1480" b="1" u="none" strike="noStrike">
                <a:solidFill>
                  <a:srgbClr val="2F83FF"/>
                </a:solidFill>
                <a:effectLst/>
                <a:uFillTx/>
                <a:latin typeface="Aptos"/>
                <a:ea typeface="Aptos"/>
              </a:rPr>
              <a:t>Physical Nodes</a:t>
            </a:r>
            <a:endParaRPr lang="en-US" sz="14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8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processos reais</a:t>
            </a:r>
            <a:endParaRPr lang="en-US" sz="14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8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transporte, bootstrap</a:t>
            </a:r>
            <a:endParaRPr lang="en-US" sz="14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2"/>
          <p:cNvSpPr/>
          <p:nvPr/>
        </p:nvSpPr>
        <p:spPr>
          <a:xfrm>
            <a:off x="4780800" y="2971800"/>
            <a:ext cx="257400" cy="360"/>
          </a:xfrm>
          <a:prstGeom prst="line">
            <a:avLst/>
          </a:prstGeom>
          <a:ln w="15875">
            <a:solidFill>
              <a:srgbClr val="27D9FF">
                <a:alpha val="95000"/>
              </a:srgbClr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3"/>
          <p:cNvSpPr/>
          <p:nvPr/>
        </p:nvSpPr>
        <p:spPr>
          <a:xfrm>
            <a:off x="2724840" y="2139840"/>
            <a:ext cx="2055600" cy="1296720"/>
          </a:xfrm>
          <a:prstGeom prst="roundRect">
            <a:avLst>
              <a:gd name="adj" fmla="val 16667"/>
            </a:avLst>
          </a:prstGeom>
          <a:solidFill>
            <a:srgbClr val="0F2440"/>
          </a:solidFill>
          <a:ln w="13970">
            <a:solidFill>
              <a:srgbClr val="8A6DFF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t">
            <a:normAutofit/>
          </a:bodyPr>
          <a:p>
            <a:pPr>
              <a:lnSpc>
                <a:spcPct val="100000"/>
              </a:lnSpc>
            </a:pPr>
            <a:r>
              <a:rPr lang="en-US" sz="1480" b="1" u="none" strike="noStrike">
                <a:solidFill>
                  <a:srgbClr val="8A6DFF"/>
                </a:solidFill>
                <a:effectLst/>
                <a:uFillTx/>
                <a:latin typeface="Aptos"/>
                <a:ea typeface="Aptos"/>
              </a:rPr>
              <a:t>Virtual Identities</a:t>
            </a:r>
            <a:endParaRPr lang="en-US" sz="14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8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identidades lógicas</a:t>
            </a:r>
            <a:endParaRPr lang="en-US" sz="14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8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perfis, chaves</a:t>
            </a:r>
            <a:endParaRPr lang="en-US" sz="14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4"/>
          <p:cNvSpPr/>
          <p:nvPr/>
        </p:nvSpPr>
        <p:spPr>
          <a:xfrm>
            <a:off x="7094160" y="2971800"/>
            <a:ext cx="221040" cy="360"/>
          </a:xfrm>
          <a:prstGeom prst="line">
            <a:avLst/>
          </a:prstGeom>
          <a:ln w="15875">
            <a:solidFill>
              <a:srgbClr val="27D9FF">
                <a:alpha val="95000"/>
              </a:srgbClr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5"/>
          <p:cNvSpPr/>
          <p:nvPr/>
        </p:nvSpPr>
        <p:spPr>
          <a:xfrm>
            <a:off x="5038200" y="2139840"/>
            <a:ext cx="2055600" cy="1296720"/>
          </a:xfrm>
          <a:prstGeom prst="roundRect">
            <a:avLst>
              <a:gd name="adj" fmla="val 16667"/>
            </a:avLst>
          </a:prstGeom>
          <a:solidFill>
            <a:srgbClr val="0F2440"/>
          </a:solidFill>
          <a:ln w="13970">
            <a:solidFill>
              <a:srgbClr val="27D9FF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t">
            <a:normAutofit/>
          </a:bodyPr>
          <a:p>
            <a:pPr>
              <a:lnSpc>
                <a:spcPct val="100000"/>
              </a:lnSpc>
            </a:pPr>
            <a:r>
              <a:rPr lang="en-US" sz="1480" b="1" u="none" strike="noStrike">
                <a:solidFill>
                  <a:srgbClr val="27D9FF"/>
                </a:solidFill>
                <a:effectLst/>
                <a:uFillTx/>
                <a:latin typeface="Aptos"/>
                <a:ea typeface="Aptos"/>
              </a:rPr>
              <a:t>Distributed Tables</a:t>
            </a:r>
            <a:endParaRPr lang="en-US" sz="14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8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DPNT, DRT, DDT</a:t>
            </a:r>
            <a:endParaRPr lang="en-US" sz="14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8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DPT, DTT</a:t>
            </a:r>
            <a:endParaRPr lang="en-US" sz="14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6"/>
          <p:cNvSpPr/>
          <p:nvPr/>
        </p:nvSpPr>
        <p:spPr>
          <a:xfrm>
            <a:off x="9407880" y="2971800"/>
            <a:ext cx="193320" cy="360"/>
          </a:xfrm>
          <a:prstGeom prst="line">
            <a:avLst/>
          </a:prstGeom>
          <a:ln w="15875">
            <a:solidFill>
              <a:srgbClr val="27D9FF">
                <a:alpha val="95000"/>
              </a:srgbClr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7"/>
          <p:cNvSpPr/>
          <p:nvPr/>
        </p:nvSpPr>
        <p:spPr>
          <a:xfrm>
            <a:off x="7351920" y="2139840"/>
            <a:ext cx="2055600" cy="1296720"/>
          </a:xfrm>
          <a:prstGeom prst="roundRect">
            <a:avLst>
              <a:gd name="adj" fmla="val 16667"/>
            </a:avLst>
          </a:prstGeom>
          <a:solidFill>
            <a:srgbClr val="0F2440"/>
          </a:solidFill>
          <a:ln w="13970">
            <a:solidFill>
              <a:srgbClr val="28D17C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t">
            <a:normAutofit/>
          </a:bodyPr>
          <a:p>
            <a:pPr>
              <a:lnSpc>
                <a:spcPct val="100000"/>
              </a:lnSpc>
            </a:pPr>
            <a:r>
              <a:rPr lang="en-US" sz="1480" b="1" u="none" strike="noStrike">
                <a:solidFill>
                  <a:srgbClr val="28D17C"/>
                </a:solidFill>
                <a:effectLst/>
                <a:uFillTx/>
                <a:latin typeface="Aptos"/>
                <a:ea typeface="Aptos"/>
              </a:rPr>
              <a:t>Routes &amp; Sessions</a:t>
            </a:r>
            <a:endParaRPr lang="en-US" sz="14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8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caminhos virtuais</a:t>
            </a:r>
            <a:endParaRPr lang="en-US" sz="14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8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entrega de mensagens</a:t>
            </a:r>
            <a:endParaRPr lang="en-US" sz="14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8"/>
          <p:cNvSpPr/>
          <p:nvPr/>
        </p:nvSpPr>
        <p:spPr>
          <a:xfrm>
            <a:off x="9646920" y="2139840"/>
            <a:ext cx="2055600" cy="1296720"/>
          </a:xfrm>
          <a:prstGeom prst="roundRect">
            <a:avLst>
              <a:gd name="adj" fmla="val 16667"/>
            </a:avLst>
          </a:prstGeom>
          <a:solidFill>
            <a:srgbClr val="0F2440"/>
          </a:solidFill>
          <a:ln w="13970">
            <a:solidFill>
              <a:srgbClr val="F6B84B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t">
            <a:normAutofit/>
          </a:bodyPr>
          <a:p>
            <a:pPr>
              <a:lnSpc>
                <a:spcPct val="100000"/>
              </a:lnSpc>
            </a:pPr>
            <a:r>
              <a:rPr lang="en-US" sz="1480" b="1" u="none" strike="noStrike">
                <a:solidFill>
                  <a:srgbClr val="F6B84B"/>
                </a:solidFill>
                <a:effectLst/>
                <a:uFillTx/>
                <a:latin typeface="Aptos"/>
                <a:ea typeface="Aptos"/>
              </a:rPr>
              <a:t>Applications</a:t>
            </a:r>
            <a:endParaRPr lang="en-US" sz="14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8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social PoC</a:t>
            </a:r>
            <a:endParaRPr lang="en-US" sz="14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8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DApps futuras</a:t>
            </a:r>
            <a:endParaRPr lang="en-US" sz="14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9"/>
          <p:cNvSpPr/>
          <p:nvPr/>
        </p:nvSpPr>
        <p:spPr>
          <a:xfrm>
            <a:off x="457920" y="5257800"/>
            <a:ext cx="10971000" cy="684000"/>
          </a:xfrm>
          <a:prstGeom prst="roundRect">
            <a:avLst>
              <a:gd name="adj" fmla="val 16667"/>
            </a:avLst>
          </a:prstGeom>
          <a:solidFill>
            <a:srgbClr val="07111F"/>
          </a:solidFill>
          <a:ln w="11430">
            <a:solidFill>
              <a:srgbClr val="27D9FF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5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A contribuição não é reproduzir Tor, IPFS ou Kademlia; é integrar ideias desses domínios em uma arquitetura modular e validável.</a:t>
            </a:r>
            <a:endParaRPr lang="en-US" sz="1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0"/>
          <p:cNvSpPr/>
          <p:nvPr/>
        </p:nvSpPr>
        <p:spPr>
          <a:xfrm>
            <a:off x="411480" y="311040"/>
            <a:ext cx="8456400" cy="61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4F8FF"/>
                </a:solidFill>
                <a:effectLst/>
                <a:uFillTx/>
                <a:latin typeface="Aptos Display"/>
                <a:ea typeface="Aptos Display"/>
              </a:rPr>
              <a:t>Contribuição central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1"/>
          <p:cNvSpPr/>
          <p:nvPr/>
        </p:nvSpPr>
        <p:spPr>
          <a:xfrm>
            <a:off x="420480" y="758880"/>
            <a:ext cx="1123668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0" u="none" strike="noStrike">
                <a:solidFill>
                  <a:srgbClr val="AAB7CA"/>
                </a:solidFill>
                <a:effectLst/>
                <a:uFillTx/>
                <a:latin typeface="Aptos"/>
                <a:ea typeface="Aptos"/>
              </a:rPr>
              <a:t>Separar explicitamente conexão física, identidade lógica, descoberta distribuída, rotas, sessões e aplicação.</a:t>
            </a:r>
            <a:endParaRPr lang="en-US" sz="15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2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 w="12700">
            <a:solidFill>
              <a:srgbClr val="27D9FF">
                <a:alpha val="8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3"/>
          <p:cNvSpPr/>
          <p:nvPr/>
        </p:nvSpPr>
        <p:spPr>
          <a:xfrm>
            <a:off x="9052560" y="301680"/>
            <a:ext cx="2649960" cy="318240"/>
          </a:xfrm>
          <a:prstGeom prst="roundRect">
            <a:avLst>
              <a:gd name="adj" fmla="val 16667"/>
            </a:avLst>
          </a:prstGeom>
          <a:solidFill>
            <a:srgbClr val="0E315D">
              <a:alpha val="98000"/>
            </a:srgbClr>
          </a:solidFill>
          <a:ln w="9525">
            <a:solidFill>
              <a:srgbClr val="164A8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1" u="none" strike="noStrike">
                <a:solidFill>
                  <a:srgbClr val="27D9FF"/>
                </a:solidFill>
                <a:effectLst/>
                <a:uFillTx/>
                <a:latin typeface="Aptos"/>
                <a:ea typeface="Aptos"/>
              </a:rPr>
              <a:t>05 · ATO 2 · CONTRIBUIÇÃO</a:t>
            </a:r>
            <a:endParaRPr lang="en-US" sz="11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4"/>
          <p:cNvSpPr/>
          <p:nvPr/>
        </p:nvSpPr>
        <p:spPr>
          <a:xfrm>
            <a:off x="11448360" y="6528960"/>
            <a:ext cx="31752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66738A"/>
                </a:solidFill>
                <a:effectLst/>
                <a:uFillTx/>
                <a:latin typeface="Aptos"/>
                <a:ea typeface="Aptos"/>
              </a:rPr>
              <a:t>05</a:t>
            </a:r>
            <a:endParaRPr lang="en-US" sz="9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5"/>
          <p:cNvSpPr/>
          <p:nvPr/>
        </p:nvSpPr>
        <p:spPr>
          <a:xfrm>
            <a:off x="420480" y="6629400"/>
            <a:ext cx="338076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0" u="none" strike="noStrike">
                <a:solidFill>
                  <a:srgbClr val="66738A"/>
                </a:solidFill>
                <a:effectLst/>
                <a:uFillTx/>
                <a:latin typeface="Aptos"/>
                <a:ea typeface="Aptos"/>
              </a:rPr>
              <a:t>ATO 2 · CONTRIBUIÇÃO</a:t>
            </a:r>
            <a:endParaRPr lang="en-US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Presenter Helper 05"/>
          <p:cNvSpPr/>
          <p:nvPr/>
        </p:nvSpPr>
        <p:spPr>
          <a:xfrm>
            <a:off x="411480" y="6181200"/>
            <a:ext cx="10650960" cy="382320"/>
          </a:xfrm>
          <a:prstGeom prst="roundRect">
            <a:avLst>
              <a:gd name="adj" fmla="val 16667"/>
            </a:avLst>
          </a:prstGeom>
          <a:solidFill>
            <a:srgbClr val="05121F"/>
          </a:solidFill>
          <a:ln>
            <a:solidFill>
              <a:srgbClr val="00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2040" tIns="27360" rIns="32040" bIns="2736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420" b="0" i="1" u="none" strike="noStrike">
                <a:solidFill>
                  <a:srgbClr val="AADCEB"/>
                </a:solidFill>
                <a:effectLst/>
                <a:uFillTx/>
                <a:latin typeface="Aptos"/>
              </a:rPr>
              <a:t>Contribuição: separar responsabilidades</a:t>
            </a:r>
            <a:endParaRPr lang="en-US" sz="14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Rounded Rectangle 76"/>
          <p:cNvSpPr/>
          <p:nvPr/>
        </p:nvSpPr>
        <p:spPr>
          <a:xfrm>
            <a:off x="502920" y="3657600"/>
            <a:ext cx="4982400" cy="1159920"/>
          </a:xfrm>
          <a:prstGeom prst="roundRect">
            <a:avLst>
              <a:gd name="adj" fmla="val 16667"/>
            </a:avLst>
          </a:prstGeom>
          <a:solidFill>
            <a:srgbClr val="06233B"/>
          </a:solidFill>
          <a:ln w="13970">
            <a:solidFill>
              <a:srgbClr val="00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2440" tIns="45000" rIns="73080" bIns="36720" anchor="ctr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CFFF"/>
                </a:solidFill>
                <a:effectLst/>
                <a:uFillTx/>
                <a:latin typeface="Aptos"/>
              </a:rPr>
              <a:t>Centro da arquitetura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</a:pPr>
            <a:r>
              <a:rPr lang="en-US" sz="1800" b="0" u="none" strike="noStrike">
                <a:solidFill>
                  <a:srgbClr val="EEF7FF"/>
                </a:solidFill>
                <a:effectLst/>
                <a:uFillTx/>
                <a:latin typeface="Aptos"/>
              </a:rPr>
              <a:t>Physical Nodes movem pacotes; Virtual Nodes representam identidades de aplicação.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Rounded Rectangle 77"/>
          <p:cNvSpPr/>
          <p:nvPr/>
        </p:nvSpPr>
        <p:spPr>
          <a:xfrm>
            <a:off x="6629400" y="3657600"/>
            <a:ext cx="4643640" cy="1159920"/>
          </a:xfrm>
          <a:prstGeom prst="roundRect">
            <a:avLst>
              <a:gd name="adj" fmla="val 16667"/>
            </a:avLst>
          </a:prstGeom>
          <a:solidFill>
            <a:srgbClr val="06233B"/>
          </a:solidFill>
          <a:ln w="13970">
            <a:solidFill>
              <a:srgbClr val="00B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2440" tIns="45000" rIns="73080" bIns="36720" anchor="ctr">
            <a:norm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BE96"/>
                </a:solidFill>
                <a:effectLst/>
                <a:uFillTx/>
                <a:latin typeface="Aptos"/>
              </a:rPr>
              <a:t>Integração prática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</a:pPr>
            <a:r>
              <a:rPr lang="en-US" sz="1600" b="0" u="none" strike="noStrike">
                <a:solidFill>
                  <a:srgbClr val="EEF7FF"/>
                </a:solidFill>
                <a:effectLst/>
                <a:uFillTx/>
                <a:latin typeface="Aptos"/>
              </a:rPr>
              <a:t>A API local permite que aplicações externas usem o core sem acoplar ao Código interno.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Image 0" descr="/mnt/data/tcc_assets/layered_architecture.png"/>
          <p:cNvPicPr/>
          <p:nvPr/>
        </p:nvPicPr>
        <p:blipFill>
          <a:blip r:embed="rId1"/>
          <a:stretch/>
        </p:blipFill>
        <p:spPr>
          <a:xfrm>
            <a:off x="457200" y="1216080"/>
            <a:ext cx="5256000" cy="368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Text 0"/>
          <p:cNvSpPr/>
          <p:nvPr/>
        </p:nvSpPr>
        <p:spPr>
          <a:xfrm>
            <a:off x="457200" y="4937760"/>
            <a:ext cx="525600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AAB7CA"/>
                </a:solidFill>
                <a:effectLst/>
                <a:uFillTx/>
                <a:latin typeface="Aptos"/>
                <a:ea typeface="Aptos"/>
              </a:rPr>
              <a:t>Figura 2 do TCC: arquitetura em camadas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"/>
          <p:cNvSpPr/>
          <p:nvPr/>
        </p:nvSpPr>
        <p:spPr>
          <a:xfrm>
            <a:off x="5806440" y="1261800"/>
            <a:ext cx="5713200" cy="1168560"/>
          </a:xfrm>
          <a:prstGeom prst="roundRect">
            <a:avLst>
              <a:gd name="adj" fmla="val 16667"/>
            </a:avLst>
          </a:prstGeom>
          <a:solidFill>
            <a:srgbClr val="0F2440"/>
          </a:solidFill>
          <a:ln w="13970">
            <a:solidFill>
              <a:srgbClr val="27D9FF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700" b="1" u="none" strike="noStrike">
                <a:solidFill>
                  <a:srgbClr val="27D9FF"/>
                </a:solidFill>
                <a:effectLst/>
                <a:uFillTx/>
                <a:latin typeface="Aptos"/>
                <a:ea typeface="Aptos"/>
              </a:rPr>
              <a:t>Mensagem principal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A arquitetura é modular, mas é apresentada em camadas para separar responsabilidades: conectividade física, coordenação overlay, serviços reutilizáveis e aplicações.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2"/>
          <p:cNvSpPr/>
          <p:nvPr/>
        </p:nvSpPr>
        <p:spPr>
          <a:xfrm>
            <a:off x="5870520" y="2743200"/>
            <a:ext cx="5438880" cy="19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- Physical layer: transporte, bootstrap, relays, NAT extensions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- Overlay layer: rotas, DHT e persistência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- Service layer: mensagens, sessões e acesso a dados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- Application layer: PoC social e aplicações futuras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3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 w="25400">
            <a:solidFill>
              <a:srgbClr val="28D17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4"/>
          <p:cNvSpPr/>
          <p:nvPr/>
        </p:nvSpPr>
        <p:spPr>
          <a:xfrm>
            <a:off x="5806440" y="4800600"/>
            <a:ext cx="5713200" cy="839520"/>
          </a:xfrm>
          <a:prstGeom prst="roundRect">
            <a:avLst>
              <a:gd name="adj" fmla="val 16667"/>
            </a:avLst>
          </a:prstGeom>
          <a:solidFill>
            <a:srgbClr val="0B213B"/>
          </a:solidFill>
          <a:ln w="6350">
            <a:solidFill>
              <a:srgbClr val="2445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7D9FF"/>
                </a:solidFill>
                <a:effectLst/>
                <a:uFillTx/>
                <a:latin typeface="Aptos"/>
                <a:ea typeface="Aptos"/>
              </a:rPr>
              <a:t>Camada superior consome abstrações; camada inferior fornece conectividade e transporte.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5"/>
          <p:cNvSpPr/>
          <p:nvPr/>
        </p:nvSpPr>
        <p:spPr>
          <a:xfrm>
            <a:off x="411480" y="311040"/>
            <a:ext cx="8456400" cy="61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4F8FF"/>
                </a:solidFill>
                <a:effectLst/>
                <a:uFillTx/>
                <a:latin typeface="Aptos Display"/>
                <a:ea typeface="Aptos Display"/>
              </a:rPr>
              <a:t>Arquitetura em camadas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6"/>
          <p:cNvSpPr/>
          <p:nvPr/>
        </p:nvSpPr>
        <p:spPr>
          <a:xfrm>
            <a:off x="420480" y="758880"/>
            <a:ext cx="1123668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0" u="none" strike="noStrike">
                <a:solidFill>
                  <a:srgbClr val="AAB7CA"/>
                </a:solidFill>
                <a:effectLst/>
                <a:uFillTx/>
                <a:latin typeface="Aptos"/>
                <a:ea typeface="Aptos"/>
              </a:rPr>
              <a:t>A modularidade permite trocar estratégias de conexão, armazenamento e criptografia sem redesenhar toda a rede.</a:t>
            </a:r>
            <a:endParaRPr lang="en-US" sz="15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7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 w="12700">
            <a:solidFill>
              <a:srgbClr val="27D9FF">
                <a:alpha val="8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8"/>
          <p:cNvSpPr/>
          <p:nvPr/>
        </p:nvSpPr>
        <p:spPr>
          <a:xfrm>
            <a:off x="9052560" y="301680"/>
            <a:ext cx="2649960" cy="318240"/>
          </a:xfrm>
          <a:prstGeom prst="roundRect">
            <a:avLst>
              <a:gd name="adj" fmla="val 16667"/>
            </a:avLst>
          </a:prstGeom>
          <a:solidFill>
            <a:srgbClr val="0E315D">
              <a:alpha val="98000"/>
            </a:srgbClr>
          </a:solidFill>
          <a:ln w="9525">
            <a:solidFill>
              <a:srgbClr val="164A8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1" u="none" strike="noStrike">
                <a:solidFill>
                  <a:srgbClr val="27D9FF"/>
                </a:solidFill>
                <a:effectLst/>
                <a:uFillTx/>
                <a:latin typeface="Aptos"/>
                <a:ea typeface="Aptos"/>
              </a:rPr>
              <a:t>06 · ATO 2 · ARQUITETURA</a:t>
            </a:r>
            <a:endParaRPr lang="en-US" sz="11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9"/>
          <p:cNvSpPr/>
          <p:nvPr/>
        </p:nvSpPr>
        <p:spPr>
          <a:xfrm>
            <a:off x="11448360" y="6528960"/>
            <a:ext cx="31752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66738A"/>
                </a:solidFill>
                <a:effectLst/>
                <a:uFillTx/>
                <a:latin typeface="Aptos"/>
                <a:ea typeface="Aptos"/>
              </a:rPr>
              <a:t>06</a:t>
            </a:r>
            <a:endParaRPr lang="en-US" sz="9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0"/>
          <p:cNvSpPr/>
          <p:nvPr/>
        </p:nvSpPr>
        <p:spPr>
          <a:xfrm>
            <a:off x="420480" y="6629400"/>
            <a:ext cx="338076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0" u="none" strike="noStrike">
                <a:solidFill>
                  <a:srgbClr val="66738A"/>
                </a:solidFill>
                <a:effectLst/>
                <a:uFillTx/>
                <a:latin typeface="Aptos"/>
                <a:ea typeface="Aptos"/>
              </a:rPr>
              <a:t>ATO 2 · ARQUITETURA</a:t>
            </a:r>
            <a:endParaRPr lang="en-US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Presenter Helper 06"/>
          <p:cNvSpPr/>
          <p:nvPr/>
        </p:nvSpPr>
        <p:spPr>
          <a:xfrm>
            <a:off x="411480" y="6181200"/>
            <a:ext cx="10650960" cy="382320"/>
          </a:xfrm>
          <a:prstGeom prst="roundRect">
            <a:avLst>
              <a:gd name="adj" fmla="val 16667"/>
            </a:avLst>
          </a:prstGeom>
          <a:solidFill>
            <a:srgbClr val="05121F"/>
          </a:solidFill>
          <a:ln>
            <a:solidFill>
              <a:srgbClr val="00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2040" tIns="27360" rIns="32040" bIns="2736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420" b="0" i="1" u="none" strike="noStrike">
                <a:solidFill>
                  <a:srgbClr val="AADCEB"/>
                </a:solidFill>
                <a:effectLst/>
                <a:uFillTx/>
                <a:latin typeface="Aptos"/>
              </a:rPr>
              <a:t>Mapa: superior consome; inferior fornece</a:t>
            </a:r>
            <a:endParaRPr lang="en-US" sz="14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0"/>
          <p:cNvSpPr/>
          <p:nvPr/>
        </p:nvSpPr>
        <p:spPr>
          <a:xfrm>
            <a:off x="5394960" y="3108960"/>
            <a:ext cx="1371600" cy="360"/>
          </a:xfrm>
          <a:prstGeom prst="line">
            <a:avLst/>
          </a:prstGeom>
          <a:ln w="15875">
            <a:solidFill>
              <a:srgbClr val="27D9FF">
                <a:alpha val="95000"/>
              </a:srgbClr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"/>
          <p:cNvSpPr/>
          <p:nvPr/>
        </p:nvSpPr>
        <p:spPr>
          <a:xfrm>
            <a:off x="658440" y="1508760"/>
            <a:ext cx="4478760" cy="3244320"/>
          </a:xfrm>
          <a:prstGeom prst="roundRect">
            <a:avLst>
              <a:gd name="adj" fmla="val 16667"/>
            </a:avLst>
          </a:prstGeom>
          <a:solidFill>
            <a:srgbClr val="0F2440"/>
          </a:solidFill>
          <a:ln w="13970">
            <a:solidFill>
              <a:srgbClr val="2F83FF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t">
            <a:normAutofit/>
          </a:bodyPr>
          <a:p>
            <a:pPr>
              <a:lnSpc>
                <a:spcPct val="100000"/>
              </a:lnSpc>
            </a:pPr>
            <a:r>
              <a:rPr lang="en-US" sz="1700" b="1" u="none" strike="noStrike">
                <a:solidFill>
                  <a:srgbClr val="2F83FF"/>
                </a:solidFill>
                <a:effectLst/>
                <a:uFillTx/>
                <a:latin typeface="Aptos"/>
                <a:ea typeface="Aptos"/>
              </a:rPr>
              <a:t>Physical Node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- processo real na rede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- endpoints e transporte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- conectividade física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- sessões físicas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- estado local e peers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"/>
          <p:cNvSpPr/>
          <p:nvPr/>
        </p:nvSpPr>
        <p:spPr>
          <a:xfrm>
            <a:off x="7059240" y="1508760"/>
            <a:ext cx="4478760" cy="3244320"/>
          </a:xfrm>
          <a:prstGeom prst="roundRect">
            <a:avLst>
              <a:gd name="adj" fmla="val 16667"/>
            </a:avLst>
          </a:prstGeom>
          <a:solidFill>
            <a:srgbClr val="0F2440"/>
          </a:solidFill>
          <a:ln w="13970">
            <a:solidFill>
              <a:srgbClr val="27D9FF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t">
            <a:normAutofit/>
          </a:bodyPr>
          <a:p>
            <a:pPr>
              <a:lnSpc>
                <a:spcPct val="100000"/>
              </a:lnSpc>
            </a:pPr>
            <a:r>
              <a:rPr lang="en-US" sz="1700" b="1" u="none" strike="noStrike">
                <a:solidFill>
                  <a:srgbClr val="27D9FF"/>
                </a:solidFill>
                <a:effectLst/>
                <a:uFillTx/>
                <a:latin typeface="Aptos"/>
                <a:ea typeface="Aptos"/>
              </a:rPr>
              <a:t>Virtual Node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- identidade lógica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- perfil ou agente de aplicação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- chaves próprias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- rotas publicadas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- pode migrar sobre o físico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4"/>
          <p:cNvSpPr/>
          <p:nvPr/>
        </p:nvSpPr>
        <p:spPr>
          <a:xfrm>
            <a:off x="411480" y="311040"/>
            <a:ext cx="8456400" cy="61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4F8FF"/>
                </a:solidFill>
                <a:effectLst/>
                <a:uFillTx/>
                <a:latin typeface="Aptos Display"/>
                <a:ea typeface="Aptos Display"/>
              </a:rPr>
              <a:t>Identidade: físico != virtual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5"/>
          <p:cNvSpPr/>
          <p:nvPr/>
        </p:nvSpPr>
        <p:spPr>
          <a:xfrm>
            <a:off x="420480" y="758880"/>
            <a:ext cx="941652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AAB7CA"/>
                </a:solidFill>
                <a:effectLst/>
                <a:uFillTx/>
                <a:latin typeface="Aptos"/>
                <a:ea typeface="Aptos"/>
              </a:rPr>
              <a:t>A separação entre nó físico e identidade virtual é um dos diferenciais da arquitetura.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6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 w="12700">
            <a:solidFill>
              <a:srgbClr val="27D9FF">
                <a:alpha val="8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7"/>
          <p:cNvSpPr/>
          <p:nvPr/>
        </p:nvSpPr>
        <p:spPr>
          <a:xfrm>
            <a:off x="9052560" y="301680"/>
            <a:ext cx="2649960" cy="318240"/>
          </a:xfrm>
          <a:prstGeom prst="roundRect">
            <a:avLst>
              <a:gd name="adj" fmla="val 16667"/>
            </a:avLst>
          </a:prstGeom>
          <a:solidFill>
            <a:srgbClr val="0E315D">
              <a:alpha val="98000"/>
            </a:srgbClr>
          </a:solidFill>
          <a:ln w="9525">
            <a:solidFill>
              <a:srgbClr val="164A8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1" u="none" strike="noStrike">
                <a:solidFill>
                  <a:srgbClr val="27D9FF"/>
                </a:solidFill>
                <a:effectLst/>
                <a:uFillTx/>
                <a:latin typeface="Aptos"/>
                <a:ea typeface="Aptos"/>
              </a:rPr>
              <a:t>07 · ATO 2 · IDENTIDADE</a:t>
            </a:r>
            <a:endParaRPr lang="en-US" sz="11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8"/>
          <p:cNvSpPr/>
          <p:nvPr/>
        </p:nvSpPr>
        <p:spPr>
          <a:xfrm>
            <a:off x="11448360" y="6528960"/>
            <a:ext cx="31752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66738A"/>
                </a:solidFill>
                <a:effectLst/>
                <a:uFillTx/>
                <a:latin typeface="Aptos"/>
                <a:ea typeface="Aptos"/>
              </a:rPr>
              <a:t>07</a:t>
            </a:r>
            <a:endParaRPr lang="en-US" sz="9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9"/>
          <p:cNvSpPr/>
          <p:nvPr/>
        </p:nvSpPr>
        <p:spPr>
          <a:xfrm>
            <a:off x="420480" y="6629400"/>
            <a:ext cx="338076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0" u="none" strike="noStrike">
                <a:solidFill>
                  <a:srgbClr val="66738A"/>
                </a:solidFill>
                <a:effectLst/>
                <a:uFillTx/>
                <a:latin typeface="Aptos"/>
                <a:ea typeface="Aptos"/>
              </a:rPr>
              <a:t>ATO 2 · IDENTIDADE</a:t>
            </a:r>
            <a:endParaRPr lang="en-US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 0"/>
          <p:cNvSpPr/>
          <p:nvPr/>
        </p:nvSpPr>
        <p:spPr>
          <a:xfrm>
            <a:off x="530280" y="1325880"/>
            <a:ext cx="1113840" cy="510120"/>
          </a:xfrm>
          <a:prstGeom prst="roundRect">
            <a:avLst>
              <a:gd name="adj" fmla="val 16667"/>
            </a:avLst>
          </a:prstGeom>
          <a:solidFill>
            <a:srgbClr val="0D2745"/>
          </a:solidFill>
          <a:ln w="10160">
            <a:solidFill>
              <a:srgbClr val="2F83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1" u="none" strike="noStrike">
                <a:solidFill>
                  <a:srgbClr val="2F83FF"/>
                </a:solidFill>
                <a:effectLst/>
                <a:uFillTx/>
                <a:latin typeface="Aptos"/>
                <a:ea typeface="Aptos"/>
              </a:rPr>
              <a:t>DPNT</a:t>
            </a:r>
            <a:endParaRPr lang="en-US" sz="172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"/>
          <p:cNvSpPr/>
          <p:nvPr/>
        </p:nvSpPr>
        <p:spPr>
          <a:xfrm>
            <a:off x="1783080" y="1325880"/>
            <a:ext cx="4524480" cy="510120"/>
          </a:xfrm>
          <a:prstGeom prst="roundRect">
            <a:avLst>
              <a:gd name="adj" fmla="val 16667"/>
            </a:avLst>
          </a:prstGeom>
          <a:solidFill>
            <a:srgbClr val="0A1C31"/>
          </a:solidFill>
          <a:ln w="6350">
            <a:solidFill>
              <a:srgbClr val="2445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descoberta física e reachability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2"/>
          <p:cNvSpPr/>
          <p:nvPr/>
        </p:nvSpPr>
        <p:spPr>
          <a:xfrm>
            <a:off x="530280" y="2020680"/>
            <a:ext cx="1113840" cy="510120"/>
          </a:xfrm>
          <a:prstGeom prst="roundRect">
            <a:avLst>
              <a:gd name="adj" fmla="val 16667"/>
            </a:avLst>
          </a:prstGeom>
          <a:solidFill>
            <a:srgbClr val="0D2745"/>
          </a:solidFill>
          <a:ln w="10160">
            <a:solidFill>
              <a:srgbClr val="27D9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1" u="none" strike="noStrike">
                <a:solidFill>
                  <a:srgbClr val="27D9FF"/>
                </a:solidFill>
                <a:effectLst/>
                <a:uFillTx/>
                <a:latin typeface="Aptos"/>
                <a:ea typeface="Aptos"/>
              </a:rPr>
              <a:t>DRT</a:t>
            </a:r>
            <a:endParaRPr lang="en-US" sz="172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3"/>
          <p:cNvSpPr/>
          <p:nvPr/>
        </p:nvSpPr>
        <p:spPr>
          <a:xfrm>
            <a:off x="1783080" y="2020680"/>
            <a:ext cx="4524480" cy="510120"/>
          </a:xfrm>
          <a:prstGeom prst="roundRect">
            <a:avLst>
              <a:gd name="adj" fmla="val 16667"/>
            </a:avLst>
          </a:prstGeom>
          <a:solidFill>
            <a:srgbClr val="0A1C31"/>
          </a:solidFill>
          <a:ln w="6350">
            <a:solidFill>
              <a:srgbClr val="2445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rotas para virtual nodes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4"/>
          <p:cNvSpPr/>
          <p:nvPr/>
        </p:nvSpPr>
        <p:spPr>
          <a:xfrm>
            <a:off x="530280" y="2715840"/>
            <a:ext cx="1113840" cy="510120"/>
          </a:xfrm>
          <a:prstGeom prst="roundRect">
            <a:avLst>
              <a:gd name="adj" fmla="val 16667"/>
            </a:avLst>
          </a:prstGeom>
          <a:solidFill>
            <a:srgbClr val="0D2745"/>
          </a:solidFill>
          <a:ln w="10160">
            <a:solidFill>
              <a:srgbClr val="28D17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1" u="none" strike="noStrike">
                <a:solidFill>
                  <a:srgbClr val="28D17C"/>
                </a:solidFill>
                <a:effectLst/>
                <a:uFillTx/>
                <a:latin typeface="Aptos"/>
                <a:ea typeface="Aptos"/>
              </a:rPr>
              <a:t>DDT</a:t>
            </a:r>
            <a:endParaRPr lang="en-US" sz="172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5"/>
          <p:cNvSpPr/>
          <p:nvPr/>
        </p:nvSpPr>
        <p:spPr>
          <a:xfrm>
            <a:off x="1783080" y="2715840"/>
            <a:ext cx="4524480" cy="510120"/>
          </a:xfrm>
          <a:prstGeom prst="roundRect">
            <a:avLst>
              <a:gd name="adj" fmla="val 16667"/>
            </a:avLst>
          </a:prstGeom>
          <a:solidFill>
            <a:srgbClr val="0A1C31"/>
          </a:solidFill>
          <a:ln w="6350">
            <a:solidFill>
              <a:srgbClr val="2445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holders de conteúdo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6"/>
          <p:cNvSpPr/>
          <p:nvPr/>
        </p:nvSpPr>
        <p:spPr>
          <a:xfrm>
            <a:off x="530280" y="3410640"/>
            <a:ext cx="1113840" cy="510120"/>
          </a:xfrm>
          <a:prstGeom prst="roundRect">
            <a:avLst>
              <a:gd name="adj" fmla="val 16667"/>
            </a:avLst>
          </a:prstGeom>
          <a:solidFill>
            <a:srgbClr val="0D2745"/>
          </a:solidFill>
          <a:ln w="10160">
            <a:solidFill>
              <a:srgbClr val="F6B8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1" u="none" strike="noStrike">
                <a:solidFill>
                  <a:srgbClr val="F6B84B"/>
                </a:solidFill>
                <a:effectLst/>
                <a:uFillTx/>
                <a:latin typeface="Aptos"/>
                <a:ea typeface="Aptos"/>
              </a:rPr>
              <a:t>DPT</a:t>
            </a:r>
            <a:endParaRPr lang="en-US" sz="172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7"/>
          <p:cNvSpPr/>
          <p:nvPr/>
        </p:nvSpPr>
        <p:spPr>
          <a:xfrm>
            <a:off x="1783080" y="3410640"/>
            <a:ext cx="4524480" cy="510120"/>
          </a:xfrm>
          <a:prstGeom prst="roundRect">
            <a:avLst>
              <a:gd name="adj" fmla="val 16667"/>
            </a:avLst>
          </a:prstGeom>
          <a:solidFill>
            <a:srgbClr val="0A1C31"/>
          </a:solidFill>
          <a:ln w="6350">
            <a:solidFill>
              <a:srgbClr val="2445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ponteiros mutáveis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8"/>
          <p:cNvSpPr/>
          <p:nvPr/>
        </p:nvSpPr>
        <p:spPr>
          <a:xfrm>
            <a:off x="530280" y="4105800"/>
            <a:ext cx="1113840" cy="510120"/>
          </a:xfrm>
          <a:prstGeom prst="roundRect">
            <a:avLst>
              <a:gd name="adj" fmla="val 16667"/>
            </a:avLst>
          </a:prstGeom>
          <a:solidFill>
            <a:srgbClr val="0D2745"/>
          </a:solidFill>
          <a:ln w="10160">
            <a:solidFill>
              <a:srgbClr val="8A6D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1" u="none" strike="noStrike">
                <a:solidFill>
                  <a:srgbClr val="8A6DFF"/>
                </a:solidFill>
                <a:effectLst/>
                <a:uFillTx/>
                <a:latin typeface="Aptos"/>
                <a:ea typeface="Aptos"/>
              </a:rPr>
              <a:t>DTT</a:t>
            </a:r>
            <a:endParaRPr lang="en-US" sz="172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9"/>
          <p:cNvSpPr/>
          <p:nvPr/>
        </p:nvSpPr>
        <p:spPr>
          <a:xfrm>
            <a:off x="1783080" y="4105800"/>
            <a:ext cx="4524480" cy="510120"/>
          </a:xfrm>
          <a:prstGeom prst="roundRect">
            <a:avLst>
              <a:gd name="adj" fmla="val 16667"/>
            </a:avLst>
          </a:prstGeom>
          <a:solidFill>
            <a:srgbClr val="0A1C31"/>
          </a:solidFill>
          <a:ln w="6350">
            <a:solidFill>
              <a:srgbClr val="2445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tags/metadados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2" name="Image 0" descr="/mnt/data/tcc_assets/drt_diagram.png"/>
          <p:cNvPicPr/>
          <p:nvPr/>
        </p:nvPicPr>
        <p:blipFill>
          <a:blip r:embed="rId1"/>
          <a:stretch/>
        </p:blipFill>
        <p:spPr>
          <a:xfrm>
            <a:off x="6551640" y="1170720"/>
            <a:ext cx="4876560" cy="4003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Text 10"/>
          <p:cNvSpPr/>
          <p:nvPr/>
        </p:nvSpPr>
        <p:spPr>
          <a:xfrm>
            <a:off x="6446520" y="5175720"/>
            <a:ext cx="498168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AAB7CA"/>
                </a:solidFill>
                <a:effectLst/>
                <a:uFillTx/>
                <a:latin typeface="Aptos"/>
                <a:ea typeface="Aptos"/>
              </a:rPr>
              <a:t>Exemplo: DRT publica reachability de virtual nodes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1"/>
          <p:cNvSpPr/>
          <p:nvPr/>
        </p:nvSpPr>
        <p:spPr>
          <a:xfrm>
            <a:off x="6446880" y="5486400"/>
            <a:ext cx="4981680" cy="638280"/>
          </a:xfrm>
          <a:prstGeom prst="roundRect">
            <a:avLst>
              <a:gd name="adj" fmla="val 16667"/>
            </a:avLst>
          </a:prstGeom>
          <a:solidFill>
            <a:srgbClr val="07111F"/>
          </a:solidFill>
          <a:ln w="10160">
            <a:solidFill>
              <a:srgbClr val="27D9FF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rmAutofit fontScale="850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7D9FF"/>
                </a:solidFill>
                <a:effectLst/>
                <a:uFillTx/>
                <a:latin typeface="Aptos"/>
                <a:ea typeface="Aptos"/>
              </a:rPr>
              <a:t>DHT-inspired coordination fabric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7D9FF"/>
                </a:solidFill>
                <a:effectLst/>
                <a:uFillTx/>
                <a:latin typeface="Aptos"/>
                <a:ea typeface="Aptos"/>
              </a:rPr>
              <a:t>key = SHA512(namespace || logical_key)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7D9FF"/>
                </a:solidFill>
                <a:effectLst/>
                <a:uFillTx/>
                <a:latin typeface="Aptos"/>
                <a:ea typeface="Aptos"/>
              </a:rPr>
              <a:t>responsabilidade por distância XOR; K = 3 no MVP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2"/>
          <p:cNvSpPr/>
          <p:nvPr/>
        </p:nvSpPr>
        <p:spPr>
          <a:xfrm>
            <a:off x="411480" y="311040"/>
            <a:ext cx="8456400" cy="61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20" b="1" u="none" strike="noStrike">
                <a:solidFill>
                  <a:srgbClr val="F4F8FF"/>
                </a:solidFill>
                <a:effectLst/>
                <a:uFillTx/>
                <a:latin typeface="Aptos Display"/>
                <a:ea typeface="Aptos Display"/>
              </a:rPr>
              <a:t>Distributed tables: coordenação entre camadas</a:t>
            </a:r>
            <a:endParaRPr lang="en-US" sz="3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3"/>
          <p:cNvSpPr/>
          <p:nvPr/>
        </p:nvSpPr>
        <p:spPr>
          <a:xfrm>
            <a:off x="420480" y="758880"/>
            <a:ext cx="941652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AAB7CA"/>
                </a:solidFill>
                <a:effectLst/>
                <a:uFillTx/>
                <a:latin typeface="Aptos"/>
                <a:ea typeface="Aptos"/>
              </a:rPr>
              <a:t>As tabelas distribuídas separam descoberta física, rotas, dados, ponteiros e metadados.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14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 w="12700">
            <a:solidFill>
              <a:srgbClr val="27D9FF">
                <a:alpha val="8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5"/>
          <p:cNvSpPr/>
          <p:nvPr/>
        </p:nvSpPr>
        <p:spPr>
          <a:xfrm>
            <a:off x="9052560" y="301680"/>
            <a:ext cx="2649960" cy="318240"/>
          </a:xfrm>
          <a:prstGeom prst="roundRect">
            <a:avLst>
              <a:gd name="adj" fmla="val 16667"/>
            </a:avLst>
          </a:prstGeom>
          <a:solidFill>
            <a:srgbClr val="0E315D">
              <a:alpha val="98000"/>
            </a:srgbClr>
          </a:solidFill>
          <a:ln w="9525">
            <a:solidFill>
              <a:srgbClr val="164A8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1" u="none" strike="noStrike">
                <a:solidFill>
                  <a:srgbClr val="27D9FF"/>
                </a:solidFill>
                <a:effectLst/>
                <a:uFillTx/>
                <a:latin typeface="Aptos"/>
                <a:ea typeface="Aptos"/>
              </a:rPr>
              <a:t>08 · ATO 2 · DHT</a:t>
            </a:r>
            <a:endParaRPr lang="en-US" sz="11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6"/>
          <p:cNvSpPr/>
          <p:nvPr/>
        </p:nvSpPr>
        <p:spPr>
          <a:xfrm>
            <a:off x="11448360" y="6528960"/>
            <a:ext cx="31752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66738A"/>
                </a:solidFill>
                <a:effectLst/>
                <a:uFillTx/>
                <a:latin typeface="Aptos"/>
                <a:ea typeface="Aptos"/>
              </a:rPr>
              <a:t>08</a:t>
            </a:r>
            <a:endParaRPr lang="en-US" sz="9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7"/>
          <p:cNvSpPr/>
          <p:nvPr/>
        </p:nvSpPr>
        <p:spPr>
          <a:xfrm>
            <a:off x="420480" y="6629400"/>
            <a:ext cx="338076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0" u="none" strike="noStrike">
                <a:solidFill>
                  <a:srgbClr val="66738A"/>
                </a:solidFill>
                <a:effectLst/>
                <a:uFillTx/>
                <a:latin typeface="Aptos"/>
                <a:ea typeface="Aptos"/>
              </a:rPr>
              <a:t>ATO 2 · DHT</a:t>
            </a:r>
            <a:endParaRPr lang="en-US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Presenter Helper 08"/>
          <p:cNvSpPr/>
          <p:nvPr/>
        </p:nvSpPr>
        <p:spPr>
          <a:xfrm>
            <a:off x="411480" y="6181200"/>
            <a:ext cx="10650960" cy="382320"/>
          </a:xfrm>
          <a:prstGeom prst="roundRect">
            <a:avLst>
              <a:gd name="adj" fmla="val 16667"/>
            </a:avLst>
          </a:prstGeom>
          <a:solidFill>
            <a:srgbClr val="05121F"/>
          </a:solidFill>
          <a:ln>
            <a:solidFill>
              <a:srgbClr val="00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2040" tIns="27360" rIns="32040" bIns="2736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420" b="0" i="1" u="none" strike="noStrike">
                <a:solidFill>
                  <a:srgbClr val="AADCEB"/>
                </a:solidFill>
                <a:effectLst/>
                <a:uFillTx/>
                <a:latin typeface="Aptos"/>
              </a:rPr>
              <a:t>Tabelas: coordenação entre descoberta, rotas e dados</a:t>
            </a:r>
            <a:endParaRPr lang="en-US" sz="14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0"/>
          <p:cNvSpPr/>
          <p:nvPr/>
        </p:nvSpPr>
        <p:spPr>
          <a:xfrm>
            <a:off x="1671840" y="2286000"/>
            <a:ext cx="541080" cy="360"/>
          </a:xfrm>
          <a:prstGeom prst="line">
            <a:avLst/>
          </a:prstGeom>
          <a:ln w="15875">
            <a:solidFill>
              <a:srgbClr val="27D9FF">
                <a:alpha val="95000"/>
              </a:srgbClr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"/>
          <p:cNvSpPr/>
          <p:nvPr/>
        </p:nvSpPr>
        <p:spPr>
          <a:xfrm>
            <a:off x="320040" y="1783080"/>
            <a:ext cx="1351440" cy="1168560"/>
          </a:xfrm>
          <a:prstGeom prst="roundRect">
            <a:avLst>
              <a:gd name="adj" fmla="val 16667"/>
            </a:avLst>
          </a:prstGeom>
          <a:solidFill>
            <a:srgbClr val="0F2440"/>
          </a:solidFill>
          <a:ln w="13970">
            <a:solidFill>
              <a:srgbClr val="2F83FF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t">
            <a:normAutofit/>
          </a:bodyPr>
          <a:p>
            <a:pPr>
              <a:lnSpc>
                <a:spcPct val="100000"/>
              </a:lnSpc>
            </a:pPr>
            <a:r>
              <a:rPr lang="en-US" sz="1420" b="1" u="none" strike="noStrike">
                <a:solidFill>
                  <a:srgbClr val="2F83FF"/>
                </a:solidFill>
                <a:effectLst/>
                <a:uFillTx/>
                <a:latin typeface="Aptos"/>
                <a:ea typeface="Aptos"/>
              </a:rPr>
              <a:t>VN A</a:t>
            </a:r>
            <a:endParaRPr lang="en-US" sz="14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2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origem lógica</a:t>
            </a:r>
            <a:endParaRPr lang="en-US" sz="14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2"/>
          <p:cNvSpPr/>
          <p:nvPr/>
        </p:nvSpPr>
        <p:spPr>
          <a:xfrm>
            <a:off x="3564720" y="2286000"/>
            <a:ext cx="541080" cy="360"/>
          </a:xfrm>
          <a:prstGeom prst="line">
            <a:avLst/>
          </a:prstGeom>
          <a:ln w="15875">
            <a:solidFill>
              <a:srgbClr val="27D9FF">
                <a:alpha val="95000"/>
              </a:srgbClr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3"/>
          <p:cNvSpPr/>
          <p:nvPr/>
        </p:nvSpPr>
        <p:spPr>
          <a:xfrm>
            <a:off x="2212920" y="1783080"/>
            <a:ext cx="1351440" cy="1168560"/>
          </a:xfrm>
          <a:prstGeom prst="roundRect">
            <a:avLst>
              <a:gd name="adj" fmla="val 16667"/>
            </a:avLst>
          </a:prstGeom>
          <a:solidFill>
            <a:srgbClr val="0F2440"/>
          </a:solidFill>
          <a:ln w="13970">
            <a:solidFill>
              <a:srgbClr val="28D17C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t">
            <a:normAutofit/>
          </a:bodyPr>
          <a:p>
            <a:pPr>
              <a:lnSpc>
                <a:spcPct val="100000"/>
              </a:lnSpc>
            </a:pPr>
            <a:r>
              <a:rPr lang="en-US" sz="1420" b="1" u="none" strike="noStrike">
                <a:solidFill>
                  <a:srgbClr val="28D17C"/>
                </a:solidFill>
                <a:effectLst/>
                <a:uFillTx/>
                <a:latin typeface="Aptos"/>
                <a:ea typeface="Aptos"/>
              </a:rPr>
              <a:t>Consulta</a:t>
            </a:r>
            <a:endParaRPr lang="en-US" sz="14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2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DPNT / DRT / DHT</a:t>
            </a:r>
            <a:endParaRPr lang="en-US" sz="14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4"/>
          <p:cNvSpPr/>
          <p:nvPr/>
        </p:nvSpPr>
        <p:spPr>
          <a:xfrm>
            <a:off x="5457600" y="2286000"/>
            <a:ext cx="486000" cy="360"/>
          </a:xfrm>
          <a:prstGeom prst="line">
            <a:avLst/>
          </a:prstGeom>
          <a:ln w="15875">
            <a:solidFill>
              <a:srgbClr val="27D9FF">
                <a:alpha val="95000"/>
              </a:srgbClr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5"/>
          <p:cNvSpPr/>
          <p:nvPr/>
        </p:nvSpPr>
        <p:spPr>
          <a:xfrm>
            <a:off x="4105800" y="1783080"/>
            <a:ext cx="1351440" cy="1168560"/>
          </a:xfrm>
          <a:prstGeom prst="roundRect">
            <a:avLst>
              <a:gd name="adj" fmla="val 16667"/>
            </a:avLst>
          </a:prstGeom>
          <a:solidFill>
            <a:srgbClr val="0F2440"/>
          </a:solidFill>
          <a:ln w="13970">
            <a:solidFill>
              <a:srgbClr val="28D17C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t">
            <a:normAutofit/>
          </a:bodyPr>
          <a:p>
            <a:pPr>
              <a:lnSpc>
                <a:spcPct val="100000"/>
              </a:lnSpc>
            </a:pPr>
            <a:r>
              <a:rPr lang="en-US" sz="1420" b="1" u="none" strike="noStrike">
                <a:solidFill>
                  <a:srgbClr val="28D17C"/>
                </a:solidFill>
                <a:effectLst/>
                <a:uFillTx/>
                <a:latin typeface="Aptos"/>
                <a:ea typeface="Aptos"/>
              </a:rPr>
              <a:t>Estratégia</a:t>
            </a:r>
            <a:endParaRPr lang="en-US" sz="14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2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seleção de hops</a:t>
            </a:r>
            <a:endParaRPr lang="en-US" sz="14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6"/>
          <p:cNvSpPr/>
          <p:nvPr/>
        </p:nvSpPr>
        <p:spPr>
          <a:xfrm>
            <a:off x="7295400" y="2286000"/>
            <a:ext cx="496800" cy="360"/>
          </a:xfrm>
          <a:prstGeom prst="line">
            <a:avLst/>
          </a:prstGeom>
          <a:ln w="15875">
            <a:solidFill>
              <a:srgbClr val="27D9FF">
                <a:alpha val="95000"/>
              </a:srgbClr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7"/>
          <p:cNvSpPr/>
          <p:nvPr/>
        </p:nvSpPr>
        <p:spPr>
          <a:xfrm>
            <a:off x="5943600" y="1802880"/>
            <a:ext cx="1351440" cy="1168560"/>
          </a:xfrm>
          <a:prstGeom prst="roundRect">
            <a:avLst>
              <a:gd name="adj" fmla="val 16667"/>
            </a:avLst>
          </a:prstGeom>
          <a:solidFill>
            <a:srgbClr val="0F2440"/>
          </a:solidFill>
          <a:ln w="13970">
            <a:solidFill>
              <a:srgbClr val="28D17C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t">
            <a:normAutofit/>
          </a:bodyPr>
          <a:p>
            <a:pPr>
              <a:lnSpc>
                <a:spcPct val="100000"/>
              </a:lnSpc>
            </a:pPr>
            <a:r>
              <a:rPr lang="en-US" sz="1420" b="1" u="none" strike="noStrike">
                <a:solidFill>
                  <a:srgbClr val="28D17C"/>
                </a:solidFill>
                <a:effectLst/>
                <a:uFillTx/>
                <a:latin typeface="Aptos"/>
                <a:ea typeface="Aptos"/>
              </a:rPr>
              <a:t>Rota</a:t>
            </a:r>
            <a:endParaRPr lang="en-US" sz="14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2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hop-by-hop</a:t>
            </a:r>
            <a:endParaRPr lang="en-US" sz="14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8"/>
          <p:cNvSpPr/>
          <p:nvPr/>
        </p:nvSpPr>
        <p:spPr>
          <a:xfrm>
            <a:off x="9144000" y="2286000"/>
            <a:ext cx="640080" cy="360"/>
          </a:xfrm>
          <a:prstGeom prst="line">
            <a:avLst/>
          </a:prstGeom>
          <a:ln w="15875">
            <a:solidFill>
              <a:srgbClr val="27D9FF">
                <a:alpha val="95000"/>
              </a:srgbClr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9"/>
          <p:cNvSpPr/>
          <p:nvPr/>
        </p:nvSpPr>
        <p:spPr>
          <a:xfrm>
            <a:off x="7792200" y="1802880"/>
            <a:ext cx="1351440" cy="1168560"/>
          </a:xfrm>
          <a:prstGeom prst="roundRect">
            <a:avLst>
              <a:gd name="adj" fmla="val 16667"/>
            </a:avLst>
          </a:prstGeom>
          <a:solidFill>
            <a:srgbClr val="0F2440"/>
          </a:solidFill>
          <a:ln w="13970">
            <a:solidFill>
              <a:srgbClr val="28D17C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t">
            <a:normAutofit/>
          </a:bodyPr>
          <a:p>
            <a:pPr>
              <a:lnSpc>
                <a:spcPct val="100000"/>
              </a:lnSpc>
            </a:pPr>
            <a:r>
              <a:rPr lang="en-US" sz="1420" b="1" u="none" strike="noStrike">
                <a:solidFill>
                  <a:srgbClr val="28D17C"/>
                </a:solidFill>
                <a:effectLst/>
                <a:uFillTx/>
                <a:latin typeface="Aptos"/>
                <a:ea typeface="Aptos"/>
              </a:rPr>
              <a:t>Sessão</a:t>
            </a:r>
            <a:endParaRPr lang="en-US" sz="14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2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canal virtual</a:t>
            </a:r>
            <a:endParaRPr lang="en-US" sz="14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0"/>
          <p:cNvSpPr/>
          <p:nvPr/>
        </p:nvSpPr>
        <p:spPr>
          <a:xfrm>
            <a:off x="9784080" y="1783080"/>
            <a:ext cx="1351440" cy="1168560"/>
          </a:xfrm>
          <a:prstGeom prst="roundRect">
            <a:avLst>
              <a:gd name="adj" fmla="val 16667"/>
            </a:avLst>
          </a:prstGeom>
          <a:solidFill>
            <a:srgbClr val="0F2440"/>
          </a:solidFill>
          <a:ln w="13970">
            <a:solidFill>
              <a:srgbClr val="2F83FF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t">
            <a:normAutofit/>
          </a:bodyPr>
          <a:p>
            <a:pPr>
              <a:lnSpc>
                <a:spcPct val="100000"/>
              </a:lnSpc>
            </a:pPr>
            <a:r>
              <a:rPr lang="en-US" sz="1420" b="1" u="none" strike="noStrike">
                <a:solidFill>
                  <a:srgbClr val="2F83FF"/>
                </a:solidFill>
                <a:effectLst/>
                <a:uFillTx/>
                <a:latin typeface="Aptos"/>
                <a:ea typeface="Aptos"/>
              </a:rPr>
              <a:t>VN B</a:t>
            </a:r>
            <a:endParaRPr lang="en-US" sz="14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2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destino lógico</a:t>
            </a:r>
            <a:endParaRPr lang="en-US" sz="14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1"/>
          <p:cNvSpPr/>
          <p:nvPr/>
        </p:nvSpPr>
        <p:spPr>
          <a:xfrm>
            <a:off x="567000" y="3822120"/>
            <a:ext cx="5301720" cy="1324080"/>
          </a:xfrm>
          <a:prstGeom prst="roundRect">
            <a:avLst>
              <a:gd name="adj" fmla="val 16667"/>
            </a:avLst>
          </a:prstGeom>
          <a:solidFill>
            <a:srgbClr val="0F2440"/>
          </a:solidFill>
          <a:ln w="13970">
            <a:solidFill>
              <a:srgbClr val="28D17C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t">
            <a:normAutofit/>
          </a:bodyPr>
          <a:p>
            <a:pPr>
              <a:lnSpc>
                <a:spcPct val="100000"/>
              </a:lnSpc>
            </a:pPr>
            <a:r>
              <a:rPr lang="en-US" sz="1530" b="1" u="none" strike="noStrike">
                <a:solidFill>
                  <a:srgbClr val="28D17C"/>
                </a:solidFill>
                <a:effectLst/>
                <a:uFillTx/>
                <a:latin typeface="Aptos"/>
                <a:ea typeface="Aptos"/>
              </a:rPr>
              <a:t>Route protocol</a:t>
            </a:r>
            <a:endParaRPr lang="en-US" sz="15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define ciclo de vida: criação, publicação, validação e execução da rota.</a:t>
            </a:r>
            <a:endParaRPr lang="en-US" sz="15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2"/>
          <p:cNvSpPr/>
          <p:nvPr/>
        </p:nvSpPr>
        <p:spPr>
          <a:xfrm>
            <a:off x="6309360" y="3822120"/>
            <a:ext cx="5301720" cy="1324080"/>
          </a:xfrm>
          <a:prstGeom prst="roundRect">
            <a:avLst>
              <a:gd name="adj" fmla="val 16667"/>
            </a:avLst>
          </a:prstGeom>
          <a:solidFill>
            <a:srgbClr val="0F2440"/>
          </a:solidFill>
          <a:ln w="13970">
            <a:solidFill>
              <a:srgbClr val="27D9FF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t">
            <a:normAutofit/>
          </a:bodyPr>
          <a:p>
            <a:pPr>
              <a:lnSpc>
                <a:spcPct val="100000"/>
              </a:lnSpc>
            </a:pPr>
            <a:r>
              <a:rPr lang="en-US" sz="1530" b="1" u="none" strike="noStrike">
                <a:solidFill>
                  <a:srgbClr val="27D9FF"/>
                </a:solidFill>
                <a:effectLst/>
                <a:uFillTx/>
                <a:latin typeface="Aptos"/>
                <a:ea typeface="Aptos"/>
              </a:rPr>
              <a:t>Route Strategy</a:t>
            </a:r>
            <a:endParaRPr lang="en-US" sz="15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escolhe hops e critérios. No MVP, a estratégia principal é random_walk_ttl.</a:t>
            </a:r>
            <a:endParaRPr lang="en-US" sz="15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3"/>
          <p:cNvSpPr/>
          <p:nvPr/>
        </p:nvSpPr>
        <p:spPr>
          <a:xfrm>
            <a:off x="411480" y="311040"/>
            <a:ext cx="8456400" cy="61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4F8FF"/>
                </a:solidFill>
                <a:effectLst/>
                <a:uFillTx/>
                <a:latin typeface="Aptos Display"/>
                <a:ea typeface="Aptos Display"/>
              </a:rPr>
              <a:t>Da descoberta à comunicação virtual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4"/>
          <p:cNvSpPr/>
          <p:nvPr/>
        </p:nvSpPr>
        <p:spPr>
          <a:xfrm>
            <a:off x="420480" y="758880"/>
            <a:ext cx="941652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AAB7CA"/>
                </a:solidFill>
                <a:effectLst/>
                <a:uFillTx/>
                <a:latin typeface="Aptos"/>
                <a:ea typeface="Aptos"/>
              </a:rPr>
              <a:t>Roteamento e sessão são tratados como fluxo arquitetural, não como função isolada.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15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 w="12700">
            <a:solidFill>
              <a:srgbClr val="27D9FF">
                <a:alpha val="8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6"/>
          <p:cNvSpPr/>
          <p:nvPr/>
        </p:nvSpPr>
        <p:spPr>
          <a:xfrm>
            <a:off x="9052560" y="301680"/>
            <a:ext cx="2649960" cy="318240"/>
          </a:xfrm>
          <a:prstGeom prst="roundRect">
            <a:avLst>
              <a:gd name="adj" fmla="val 16667"/>
            </a:avLst>
          </a:prstGeom>
          <a:solidFill>
            <a:srgbClr val="0E315D">
              <a:alpha val="98000"/>
            </a:srgbClr>
          </a:solidFill>
          <a:ln w="9525">
            <a:solidFill>
              <a:srgbClr val="164A8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1" u="none" strike="noStrike">
                <a:solidFill>
                  <a:srgbClr val="27D9FF"/>
                </a:solidFill>
                <a:effectLst/>
                <a:uFillTx/>
                <a:latin typeface="Aptos"/>
                <a:ea typeface="Aptos"/>
              </a:rPr>
              <a:t>09 · ATO 2 · ROTEAMENTO</a:t>
            </a:r>
            <a:endParaRPr lang="en-US" sz="11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7"/>
          <p:cNvSpPr/>
          <p:nvPr/>
        </p:nvSpPr>
        <p:spPr>
          <a:xfrm>
            <a:off x="11448360" y="6528960"/>
            <a:ext cx="31752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66738A"/>
                </a:solidFill>
                <a:effectLst/>
                <a:uFillTx/>
                <a:latin typeface="Aptos"/>
                <a:ea typeface="Aptos"/>
              </a:rPr>
              <a:t>09</a:t>
            </a:r>
            <a:endParaRPr lang="en-US" sz="9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8"/>
          <p:cNvSpPr/>
          <p:nvPr/>
        </p:nvSpPr>
        <p:spPr>
          <a:xfrm>
            <a:off x="420480" y="6629400"/>
            <a:ext cx="338076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0" u="none" strike="noStrike">
                <a:solidFill>
                  <a:srgbClr val="66738A"/>
                </a:solidFill>
                <a:effectLst/>
                <a:uFillTx/>
                <a:latin typeface="Aptos"/>
                <a:ea typeface="Aptos"/>
              </a:rPr>
              <a:t>ATO 2 · ROTEAMENTO</a:t>
            </a:r>
            <a:endParaRPr lang="en-US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Presenter Helper 09"/>
          <p:cNvSpPr/>
          <p:nvPr/>
        </p:nvSpPr>
        <p:spPr>
          <a:xfrm>
            <a:off x="411480" y="6181200"/>
            <a:ext cx="10650960" cy="382320"/>
          </a:xfrm>
          <a:prstGeom prst="roundRect">
            <a:avLst>
              <a:gd name="adj" fmla="val 16667"/>
            </a:avLst>
          </a:prstGeom>
          <a:solidFill>
            <a:srgbClr val="05121F"/>
          </a:solidFill>
          <a:ln>
            <a:solidFill>
              <a:srgbClr val="00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2040" tIns="27360" rIns="32040" bIns="2736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420" b="0" i="1" u="none" strike="noStrike">
                <a:solidFill>
                  <a:srgbClr val="AADCEB"/>
                </a:solidFill>
                <a:effectLst/>
                <a:uFillTx/>
                <a:latin typeface="Aptos"/>
              </a:rPr>
              <a:t>Fluxo: descobrir -&gt; rotear -&gt; sessão -&gt; mensagem</a:t>
            </a:r>
            <a:endParaRPr lang="en-US" sz="14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 0"/>
          <p:cNvSpPr/>
          <p:nvPr/>
        </p:nvSpPr>
        <p:spPr>
          <a:xfrm>
            <a:off x="384120" y="1600200"/>
            <a:ext cx="1991520" cy="2329920"/>
          </a:xfrm>
          <a:prstGeom prst="roundRect">
            <a:avLst>
              <a:gd name="adj" fmla="val 16667"/>
            </a:avLst>
          </a:prstGeom>
          <a:solidFill>
            <a:srgbClr val="0F2440"/>
          </a:solidFill>
          <a:ln w="13970">
            <a:solidFill>
              <a:srgbClr val="2F83FF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t">
            <a:normAutofit/>
          </a:bodyPr>
          <a:p>
            <a:pPr>
              <a:lnSpc>
                <a:spcPct val="100000"/>
              </a:lnSpc>
            </a:pPr>
            <a:r>
              <a:rPr lang="en-US" sz="1480" b="1" u="none" strike="noStrike">
                <a:solidFill>
                  <a:srgbClr val="2F83FF"/>
                </a:solidFill>
                <a:effectLst/>
                <a:uFillTx/>
                <a:latin typeface="Aptos"/>
                <a:ea typeface="Aptos"/>
              </a:rPr>
              <a:t>Identificadores</a:t>
            </a:r>
            <a:endParaRPr lang="en-US" sz="14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8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SHA-512(public_key) para nós físicos e virtuais</a:t>
            </a:r>
            <a:endParaRPr lang="en-US" sz="14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"/>
          <p:cNvSpPr/>
          <p:nvPr/>
        </p:nvSpPr>
        <p:spPr>
          <a:xfrm>
            <a:off x="2724840" y="1600200"/>
            <a:ext cx="1991520" cy="2329920"/>
          </a:xfrm>
          <a:prstGeom prst="roundRect">
            <a:avLst>
              <a:gd name="adj" fmla="val 16667"/>
            </a:avLst>
          </a:prstGeom>
          <a:solidFill>
            <a:srgbClr val="0F2440"/>
          </a:solidFill>
          <a:ln w="13970">
            <a:solidFill>
              <a:srgbClr val="8A6DFF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t">
            <a:normAutofit/>
          </a:bodyPr>
          <a:p>
            <a:pPr>
              <a:lnSpc>
                <a:spcPct val="100000"/>
              </a:lnSpc>
            </a:pPr>
            <a:r>
              <a:rPr lang="en-US" sz="1480" b="1" u="none" strike="noStrike">
                <a:solidFill>
                  <a:srgbClr val="8A6DFF"/>
                </a:solidFill>
                <a:effectLst/>
                <a:uFillTx/>
                <a:latin typeface="Aptos"/>
                <a:ea typeface="Aptos"/>
              </a:rPr>
              <a:t>Assinaturas</a:t>
            </a:r>
            <a:endParaRPr lang="en-US" sz="14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8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ML-DSA-65 quando disponível; autenticidade de registros</a:t>
            </a:r>
            <a:endParaRPr lang="en-US" sz="14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2"/>
          <p:cNvSpPr/>
          <p:nvPr/>
        </p:nvSpPr>
        <p:spPr>
          <a:xfrm>
            <a:off x="5065920" y="1600200"/>
            <a:ext cx="1991520" cy="2329920"/>
          </a:xfrm>
          <a:prstGeom prst="roundRect">
            <a:avLst>
              <a:gd name="adj" fmla="val 16667"/>
            </a:avLst>
          </a:prstGeom>
          <a:solidFill>
            <a:srgbClr val="0F2440"/>
          </a:solidFill>
          <a:ln w="13970">
            <a:solidFill>
              <a:srgbClr val="27D9FF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t">
            <a:normAutofit/>
          </a:bodyPr>
          <a:p>
            <a:pPr>
              <a:lnSpc>
                <a:spcPct val="100000"/>
              </a:lnSpc>
            </a:pPr>
            <a:r>
              <a:rPr lang="en-US" sz="1480" b="1" u="none" strike="noStrike">
                <a:solidFill>
                  <a:srgbClr val="27D9FF"/>
                </a:solidFill>
                <a:effectLst/>
                <a:uFillTx/>
                <a:latin typeface="Aptos"/>
                <a:ea typeface="Aptos"/>
              </a:rPr>
              <a:t>KEM</a:t>
            </a:r>
            <a:endParaRPr lang="en-US" sz="14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8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ML-KEM-768 para estabelecimento de segredo</a:t>
            </a:r>
            <a:endParaRPr lang="en-US" sz="14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3"/>
          <p:cNvSpPr/>
          <p:nvPr/>
        </p:nvSpPr>
        <p:spPr>
          <a:xfrm>
            <a:off x="7406640" y="1600200"/>
            <a:ext cx="1991520" cy="2329920"/>
          </a:xfrm>
          <a:prstGeom prst="roundRect">
            <a:avLst>
              <a:gd name="adj" fmla="val 16667"/>
            </a:avLst>
          </a:prstGeom>
          <a:solidFill>
            <a:srgbClr val="0F2440"/>
          </a:solidFill>
          <a:ln w="13970">
            <a:solidFill>
              <a:srgbClr val="28D17C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t">
            <a:normAutofit/>
          </a:bodyPr>
          <a:p>
            <a:pPr>
              <a:lnSpc>
                <a:spcPct val="100000"/>
              </a:lnSpc>
            </a:pPr>
            <a:r>
              <a:rPr lang="en-US" sz="1480" b="1" u="none" strike="noStrike">
                <a:solidFill>
                  <a:srgbClr val="28D17C"/>
                </a:solidFill>
                <a:effectLst/>
                <a:uFillTx/>
                <a:latin typeface="Aptos"/>
                <a:ea typeface="Aptos"/>
              </a:rPr>
              <a:t>AEAD</a:t>
            </a:r>
            <a:endParaRPr lang="en-US" sz="14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8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AES-256-GCM-SIV com AAD para payloads autenticados</a:t>
            </a:r>
            <a:endParaRPr lang="en-US" sz="14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4"/>
          <p:cNvSpPr/>
          <p:nvPr/>
        </p:nvSpPr>
        <p:spPr>
          <a:xfrm>
            <a:off x="9747360" y="1600200"/>
            <a:ext cx="1991520" cy="2329920"/>
          </a:xfrm>
          <a:prstGeom prst="roundRect">
            <a:avLst>
              <a:gd name="adj" fmla="val 16667"/>
            </a:avLst>
          </a:prstGeom>
          <a:solidFill>
            <a:srgbClr val="0F2440"/>
          </a:solidFill>
          <a:ln w="13970">
            <a:solidFill>
              <a:srgbClr val="F6B84B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t">
            <a:normAutofit/>
          </a:bodyPr>
          <a:p>
            <a:pPr>
              <a:lnSpc>
                <a:spcPct val="100000"/>
              </a:lnSpc>
            </a:pPr>
            <a:r>
              <a:rPr lang="en-US" sz="1480" b="1" u="none" strike="noStrike">
                <a:solidFill>
                  <a:srgbClr val="F6B84B"/>
                </a:solidFill>
                <a:effectLst/>
                <a:uFillTx/>
                <a:latin typeface="Aptos"/>
                <a:ea typeface="Aptos"/>
              </a:rPr>
              <a:t>Anti-abuso inicial</a:t>
            </a:r>
            <a:endParaRPr lang="en-US" sz="14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8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publication proof-of-work e validação de registros</a:t>
            </a:r>
            <a:endParaRPr lang="en-US" sz="14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6"/>
          <p:cNvSpPr/>
          <p:nvPr/>
        </p:nvSpPr>
        <p:spPr>
          <a:xfrm>
            <a:off x="411480" y="311040"/>
            <a:ext cx="8456400" cy="61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rmAutofit fontScale="775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80" b="1" u="none" strike="noStrike">
                <a:solidFill>
                  <a:srgbClr val="F4F8FF"/>
                </a:solidFill>
                <a:effectLst/>
                <a:uFillTx/>
                <a:latin typeface="Aptos Display"/>
                <a:ea typeface="Aptos Display"/>
              </a:rPr>
              <a:t>Security model: autenticação, sigilo e crypto-agility</a:t>
            </a:r>
            <a:endParaRPr lang="en-US" sz="28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7"/>
          <p:cNvSpPr/>
          <p:nvPr/>
        </p:nvSpPr>
        <p:spPr>
          <a:xfrm>
            <a:off x="420480" y="758880"/>
            <a:ext cx="1123668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0" u="none" strike="noStrike">
                <a:solidFill>
                  <a:srgbClr val="AAB7CA"/>
                </a:solidFill>
                <a:effectLst/>
                <a:uFillTx/>
                <a:latin typeface="Aptos"/>
                <a:ea typeface="Aptos"/>
              </a:rPr>
              <a:t>O MVP valida o pipeline de segurança, mas a arquitetura permite substituições criptográficas futuras.</a:t>
            </a:r>
            <a:endParaRPr lang="en-US" sz="15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8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 w="12700">
            <a:solidFill>
              <a:srgbClr val="27D9FF">
                <a:alpha val="8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9"/>
          <p:cNvSpPr/>
          <p:nvPr/>
        </p:nvSpPr>
        <p:spPr>
          <a:xfrm>
            <a:off x="9052560" y="301680"/>
            <a:ext cx="2649960" cy="318240"/>
          </a:xfrm>
          <a:prstGeom prst="roundRect">
            <a:avLst>
              <a:gd name="adj" fmla="val 16667"/>
            </a:avLst>
          </a:prstGeom>
          <a:solidFill>
            <a:srgbClr val="0E315D">
              <a:alpha val="98000"/>
            </a:srgbClr>
          </a:solidFill>
          <a:ln w="9525">
            <a:solidFill>
              <a:srgbClr val="164A8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1" u="none" strike="noStrike">
                <a:solidFill>
                  <a:srgbClr val="27D9FF"/>
                </a:solidFill>
                <a:effectLst/>
                <a:uFillTx/>
                <a:latin typeface="Aptos"/>
                <a:ea typeface="Aptos"/>
              </a:rPr>
              <a:t>10 · ATO 2 · SEGURANÇA</a:t>
            </a:r>
            <a:endParaRPr lang="en-US" sz="11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0"/>
          <p:cNvSpPr/>
          <p:nvPr/>
        </p:nvSpPr>
        <p:spPr>
          <a:xfrm>
            <a:off x="11448360" y="6528960"/>
            <a:ext cx="31752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66738A"/>
                </a:solidFill>
                <a:effectLst/>
                <a:uFillTx/>
                <a:latin typeface="Aptos"/>
                <a:ea typeface="Aptos"/>
              </a:rPr>
              <a:t>10</a:t>
            </a:r>
            <a:endParaRPr lang="en-US" sz="9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1"/>
          <p:cNvSpPr/>
          <p:nvPr/>
        </p:nvSpPr>
        <p:spPr>
          <a:xfrm>
            <a:off x="420480" y="6629400"/>
            <a:ext cx="338076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0" u="none" strike="noStrike">
                <a:solidFill>
                  <a:srgbClr val="66738A"/>
                </a:solidFill>
                <a:effectLst/>
                <a:uFillTx/>
                <a:latin typeface="Aptos"/>
                <a:ea typeface="Aptos"/>
              </a:rPr>
              <a:t>ATO 2 · SEGURANÇA</a:t>
            </a:r>
            <a:endParaRPr lang="en-US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Presenter Helper 10"/>
          <p:cNvSpPr/>
          <p:nvPr/>
        </p:nvSpPr>
        <p:spPr>
          <a:xfrm>
            <a:off x="411480" y="6181200"/>
            <a:ext cx="10650960" cy="382320"/>
          </a:xfrm>
          <a:prstGeom prst="roundRect">
            <a:avLst>
              <a:gd name="adj" fmla="val 16667"/>
            </a:avLst>
          </a:prstGeom>
          <a:solidFill>
            <a:srgbClr val="05121F"/>
          </a:solidFill>
          <a:ln>
            <a:solidFill>
              <a:srgbClr val="00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2040" tIns="27360" rIns="32040" bIns="2736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420" b="0" i="1" u="none" strike="noStrike">
                <a:solidFill>
                  <a:srgbClr val="AADCEB"/>
                </a:solidFill>
                <a:effectLst/>
                <a:uFillTx/>
                <a:latin typeface="Aptos"/>
              </a:rPr>
              <a:t>Segurança: identidade, assinatura, KEM e AEAD</a:t>
            </a:r>
            <a:endParaRPr lang="en-US" sz="14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Rounded Rectangle 151"/>
          <p:cNvSpPr/>
          <p:nvPr/>
        </p:nvSpPr>
        <p:spPr>
          <a:xfrm>
            <a:off x="457200" y="4407480"/>
            <a:ext cx="5411880" cy="1306440"/>
          </a:xfrm>
          <a:prstGeom prst="roundRect">
            <a:avLst>
              <a:gd name="adj" fmla="val 16667"/>
            </a:avLst>
          </a:prstGeom>
          <a:solidFill>
            <a:srgbClr val="06233B"/>
          </a:solidFill>
          <a:ln w="13970">
            <a:solidFill>
              <a:srgbClr val="F5A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2440" tIns="45000" rIns="73080" bIns="36720" anchor="ctr">
            <a:norm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F5AA38"/>
                </a:solidFill>
                <a:effectLst/>
                <a:uFillTx/>
                <a:latin typeface="Aptos"/>
              </a:rPr>
              <a:t>Publication proof-of-work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</a:pPr>
            <a:r>
              <a:rPr lang="en-US" sz="1400" b="0" u="none" strike="noStrike">
                <a:solidFill>
                  <a:srgbClr val="EEF7FF"/>
                </a:solidFill>
                <a:effectLst/>
                <a:uFillTx/>
                <a:latin typeface="Aptos"/>
              </a:rPr>
              <a:t>Usado na escrita da DHT: caro de gerar, barato de validar. Nonce fica no payload; material canônico exclui pow_nonce.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Rounded Rectangle 152"/>
          <p:cNvSpPr/>
          <p:nvPr/>
        </p:nvSpPr>
        <p:spPr>
          <a:xfrm>
            <a:off x="6446520" y="4407480"/>
            <a:ext cx="4982400" cy="1306440"/>
          </a:xfrm>
          <a:prstGeom prst="roundRect">
            <a:avLst>
              <a:gd name="adj" fmla="val 16667"/>
            </a:avLst>
          </a:prstGeom>
          <a:solidFill>
            <a:srgbClr val="06233B"/>
          </a:solidFill>
          <a:ln w="13970">
            <a:solidFill>
              <a:srgbClr val="00B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2440" tIns="45000" rIns="73080" bIns="36720" anchor="ctr">
            <a:norm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00BE96"/>
                </a:solidFill>
                <a:effectLst/>
                <a:uFillTx/>
                <a:latin typeface="Aptos"/>
              </a:rPr>
              <a:t>Bibliotecas de crypto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</a:pPr>
            <a:r>
              <a:rPr lang="en-US" sz="1400" b="0" u="none" strike="noStrike">
                <a:solidFill>
                  <a:srgbClr val="EEF7FF"/>
                </a:solidFill>
                <a:effectLst/>
                <a:uFillTx/>
                <a:latin typeface="Aptos"/>
              </a:rPr>
              <a:t>OpenSSL CLI para ML-KEM/ML-DSA; cryptography para AES-256-GCM-SIV.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Image 0" descr="/mnt/data/tcc_assets/implemented_architecture.png"/>
          <p:cNvPicPr/>
          <p:nvPr/>
        </p:nvPicPr>
        <p:blipFill>
          <a:blip r:embed="rId1"/>
          <a:stretch/>
        </p:blipFill>
        <p:spPr>
          <a:xfrm>
            <a:off x="457200" y="1188720"/>
            <a:ext cx="5347440" cy="294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7" name="Text 0"/>
          <p:cNvSpPr/>
          <p:nvPr/>
        </p:nvSpPr>
        <p:spPr>
          <a:xfrm>
            <a:off x="457200" y="4187880"/>
            <a:ext cx="534744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AAB7CA"/>
                </a:solidFill>
                <a:effectLst/>
                <a:uFillTx/>
                <a:latin typeface="Aptos"/>
                <a:ea typeface="Aptos"/>
              </a:rPr>
              <a:t>Figura 12: AnonNetCore Python MVP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"/>
          <p:cNvSpPr/>
          <p:nvPr/>
        </p:nvSpPr>
        <p:spPr>
          <a:xfrm>
            <a:off x="5897880" y="1261800"/>
            <a:ext cx="2467080" cy="528480"/>
          </a:xfrm>
          <a:prstGeom prst="roundRect">
            <a:avLst>
              <a:gd name="adj" fmla="val 16667"/>
            </a:avLst>
          </a:prstGeom>
          <a:solidFill>
            <a:srgbClr val="0B213B"/>
          </a:solidFill>
          <a:ln w="10160">
            <a:solidFill>
              <a:srgbClr val="2F83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8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Python MVP</a:t>
            </a:r>
            <a:endParaRPr lang="en-US" sz="14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2"/>
          <p:cNvSpPr/>
          <p:nvPr/>
        </p:nvSpPr>
        <p:spPr>
          <a:xfrm>
            <a:off x="8641080" y="1261800"/>
            <a:ext cx="2604240" cy="528480"/>
          </a:xfrm>
          <a:prstGeom prst="roundRect">
            <a:avLst>
              <a:gd name="adj" fmla="val 16667"/>
            </a:avLst>
          </a:prstGeom>
          <a:solidFill>
            <a:srgbClr val="0B213B"/>
          </a:solidFill>
          <a:ln w="10160">
            <a:solidFill>
              <a:srgbClr val="27D9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8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TCP</a:t>
            </a:r>
            <a:endParaRPr lang="en-US" sz="14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3"/>
          <p:cNvSpPr/>
          <p:nvPr/>
        </p:nvSpPr>
        <p:spPr>
          <a:xfrm>
            <a:off x="5897880" y="1874520"/>
            <a:ext cx="2467080" cy="528480"/>
          </a:xfrm>
          <a:prstGeom prst="roundRect">
            <a:avLst>
              <a:gd name="adj" fmla="val 16667"/>
            </a:avLst>
          </a:prstGeom>
          <a:solidFill>
            <a:srgbClr val="0B213B"/>
          </a:solidFill>
          <a:ln w="10160">
            <a:solidFill>
              <a:srgbClr val="28D17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8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UDP experimental</a:t>
            </a:r>
            <a:endParaRPr lang="en-US" sz="14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4"/>
          <p:cNvSpPr/>
          <p:nvPr/>
        </p:nvSpPr>
        <p:spPr>
          <a:xfrm>
            <a:off x="8641080" y="1874520"/>
            <a:ext cx="2604240" cy="528480"/>
          </a:xfrm>
          <a:prstGeom prst="roundRect">
            <a:avLst>
              <a:gd name="adj" fmla="val 16667"/>
            </a:avLst>
          </a:prstGeom>
          <a:solidFill>
            <a:srgbClr val="0B213B"/>
          </a:solidFill>
          <a:ln w="10160">
            <a:solidFill>
              <a:srgbClr val="F6B8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8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Relay-assisted forwarding</a:t>
            </a:r>
            <a:endParaRPr lang="en-US" sz="14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5"/>
          <p:cNvSpPr/>
          <p:nvPr/>
        </p:nvSpPr>
        <p:spPr>
          <a:xfrm>
            <a:off x="5897880" y="2487240"/>
            <a:ext cx="2467080" cy="528480"/>
          </a:xfrm>
          <a:prstGeom prst="roundRect">
            <a:avLst>
              <a:gd name="adj" fmla="val 16667"/>
            </a:avLst>
          </a:prstGeom>
          <a:solidFill>
            <a:srgbClr val="0B213B"/>
          </a:solidFill>
          <a:ln w="10160">
            <a:solidFill>
              <a:srgbClr val="8A6D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8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SQLite / SQLAlchemy</a:t>
            </a:r>
            <a:endParaRPr lang="en-US" sz="14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6"/>
          <p:cNvSpPr/>
          <p:nvPr/>
        </p:nvSpPr>
        <p:spPr>
          <a:xfrm>
            <a:off x="8641080" y="2487240"/>
            <a:ext cx="2604240" cy="528480"/>
          </a:xfrm>
          <a:prstGeom prst="roundRect">
            <a:avLst>
              <a:gd name="adj" fmla="val 16667"/>
            </a:avLst>
          </a:prstGeom>
          <a:solidFill>
            <a:srgbClr val="0B213B"/>
          </a:solidFill>
          <a:ln w="10160">
            <a:solidFill>
              <a:srgbClr val="27D9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8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HTTP API / WebSocket</a:t>
            </a:r>
            <a:endParaRPr lang="en-US" sz="14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7"/>
          <p:cNvSpPr/>
          <p:nvPr/>
        </p:nvSpPr>
        <p:spPr>
          <a:xfrm>
            <a:off x="5897880" y="3099960"/>
            <a:ext cx="2467080" cy="528480"/>
          </a:xfrm>
          <a:prstGeom prst="roundRect">
            <a:avLst>
              <a:gd name="adj" fmla="val 16667"/>
            </a:avLst>
          </a:prstGeom>
          <a:solidFill>
            <a:srgbClr val="0B213B"/>
          </a:solidFill>
          <a:ln w="10160">
            <a:solidFill>
              <a:srgbClr val="28D17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8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Social PoC</a:t>
            </a:r>
            <a:endParaRPr lang="en-US" sz="14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8"/>
          <p:cNvSpPr/>
          <p:nvPr/>
        </p:nvSpPr>
        <p:spPr>
          <a:xfrm>
            <a:off x="8641080" y="3099960"/>
            <a:ext cx="2604240" cy="528480"/>
          </a:xfrm>
          <a:prstGeom prst="roundRect">
            <a:avLst>
              <a:gd name="adj" fmla="val 16667"/>
            </a:avLst>
          </a:prstGeom>
          <a:solidFill>
            <a:srgbClr val="0B213B"/>
          </a:solidFill>
          <a:ln w="10160">
            <a:solidFill>
              <a:srgbClr val="2F83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8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Docker/local clusters</a:t>
            </a:r>
            <a:endParaRPr lang="en-US" sz="14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9"/>
          <p:cNvSpPr/>
          <p:nvPr/>
        </p:nvSpPr>
        <p:spPr>
          <a:xfrm>
            <a:off x="5806440" y="4343400"/>
            <a:ext cx="2924280" cy="1077120"/>
          </a:xfrm>
          <a:prstGeom prst="roundRect">
            <a:avLst>
              <a:gd name="adj" fmla="val 16667"/>
            </a:avLst>
          </a:prstGeom>
          <a:solidFill>
            <a:srgbClr val="0F2440"/>
          </a:solidFill>
          <a:ln w="13970">
            <a:solidFill>
              <a:srgbClr val="28D17C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480" b="1" u="none" strike="noStrike">
                <a:solidFill>
                  <a:srgbClr val="28D17C"/>
                </a:solidFill>
                <a:effectLst/>
                <a:uFillTx/>
                <a:latin typeface="Aptos"/>
                <a:ea typeface="Aptos"/>
              </a:rPr>
              <a:t>Valida</a:t>
            </a:r>
            <a:endParaRPr lang="en-US" sz="14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8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bootstrap, descoberta, DHT, DRT, rotas, sessões virtuais, mensagens, conteúdo e API local.</a:t>
            </a:r>
            <a:endParaRPr lang="en-US" sz="14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0"/>
          <p:cNvSpPr/>
          <p:nvPr/>
        </p:nvSpPr>
        <p:spPr>
          <a:xfrm>
            <a:off x="8869680" y="4343400"/>
            <a:ext cx="2832840" cy="1077120"/>
          </a:xfrm>
          <a:prstGeom prst="roundRect">
            <a:avLst>
              <a:gd name="adj" fmla="val 16667"/>
            </a:avLst>
          </a:prstGeom>
          <a:solidFill>
            <a:srgbClr val="0F2440"/>
          </a:solidFill>
          <a:ln w="13970">
            <a:solidFill>
              <a:srgbClr val="F6B84B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480" b="1" u="none" strike="noStrike">
                <a:solidFill>
                  <a:srgbClr val="F6B84B"/>
                </a:solidFill>
                <a:effectLst/>
                <a:uFillTx/>
                <a:latin typeface="Aptos"/>
                <a:ea typeface="Aptos"/>
              </a:rPr>
              <a:t>Não promete</a:t>
            </a:r>
            <a:endParaRPr lang="en-US" sz="14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8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produção Internet-scale, NAT completo, auditoria criptográfica formal ou defesa anti-abuso madura.</a:t>
            </a:r>
            <a:endParaRPr lang="en-US" sz="14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1"/>
          <p:cNvSpPr/>
          <p:nvPr/>
        </p:nvSpPr>
        <p:spPr>
          <a:xfrm>
            <a:off x="411480" y="311040"/>
            <a:ext cx="8456400" cy="61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rmAutofit fontScale="775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20" b="1" u="none" strike="noStrike">
                <a:solidFill>
                  <a:srgbClr val="F4F8FF"/>
                </a:solidFill>
                <a:effectLst/>
                <a:uFillTx/>
                <a:latin typeface="Aptos Display"/>
                <a:ea typeface="Aptos Display"/>
              </a:rPr>
              <a:t>MVP experimental: validação dos fluxos principais</a:t>
            </a:r>
            <a:endParaRPr lang="en-US" sz="3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2"/>
          <p:cNvSpPr/>
          <p:nvPr/>
        </p:nvSpPr>
        <p:spPr>
          <a:xfrm>
            <a:off x="420480" y="758880"/>
            <a:ext cx="941652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AAB7CA"/>
                </a:solidFill>
                <a:effectLst/>
                <a:uFillTx/>
                <a:latin typeface="Aptos"/>
                <a:ea typeface="Aptos"/>
              </a:rPr>
              <a:t>O protótipo não é uma rede pública final; ele valida a arquitetura em ambiente controlado.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13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 w="12700">
            <a:solidFill>
              <a:srgbClr val="27D9FF">
                <a:alpha val="8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4"/>
          <p:cNvSpPr/>
          <p:nvPr/>
        </p:nvSpPr>
        <p:spPr>
          <a:xfrm>
            <a:off x="9052560" y="301680"/>
            <a:ext cx="2649960" cy="318240"/>
          </a:xfrm>
          <a:prstGeom prst="roundRect">
            <a:avLst>
              <a:gd name="adj" fmla="val 16667"/>
            </a:avLst>
          </a:prstGeom>
          <a:solidFill>
            <a:srgbClr val="0E315D">
              <a:alpha val="98000"/>
            </a:srgbClr>
          </a:solidFill>
          <a:ln w="9525">
            <a:solidFill>
              <a:srgbClr val="164A8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1" u="none" strike="noStrike">
                <a:solidFill>
                  <a:srgbClr val="27D9FF"/>
                </a:solidFill>
                <a:effectLst/>
                <a:uFillTx/>
                <a:latin typeface="Aptos"/>
                <a:ea typeface="Aptos"/>
              </a:rPr>
              <a:t>11 · ATO 3 · IMPLEMENTAÇÃO</a:t>
            </a:r>
            <a:endParaRPr lang="en-US" sz="11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5"/>
          <p:cNvSpPr/>
          <p:nvPr/>
        </p:nvSpPr>
        <p:spPr>
          <a:xfrm>
            <a:off x="11448360" y="6528960"/>
            <a:ext cx="31752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66738A"/>
                </a:solidFill>
                <a:effectLst/>
                <a:uFillTx/>
                <a:latin typeface="Aptos"/>
                <a:ea typeface="Aptos"/>
              </a:rPr>
              <a:t>11</a:t>
            </a:r>
            <a:endParaRPr lang="en-US" sz="9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6"/>
          <p:cNvSpPr/>
          <p:nvPr/>
        </p:nvSpPr>
        <p:spPr>
          <a:xfrm>
            <a:off x="420480" y="6629400"/>
            <a:ext cx="338076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0" u="none" strike="noStrike">
                <a:solidFill>
                  <a:srgbClr val="66738A"/>
                </a:solidFill>
                <a:effectLst/>
                <a:uFillTx/>
                <a:latin typeface="Aptos"/>
                <a:ea typeface="Aptos"/>
              </a:rPr>
              <a:t>ATO 3 · IMPLEMENTAÇÃO</a:t>
            </a:r>
            <a:endParaRPr lang="en-US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Presenter Helper 11"/>
          <p:cNvSpPr/>
          <p:nvPr/>
        </p:nvSpPr>
        <p:spPr>
          <a:xfrm>
            <a:off x="411480" y="6181200"/>
            <a:ext cx="10650960" cy="382320"/>
          </a:xfrm>
          <a:prstGeom prst="roundRect">
            <a:avLst>
              <a:gd name="adj" fmla="val 16667"/>
            </a:avLst>
          </a:prstGeom>
          <a:solidFill>
            <a:srgbClr val="05121F"/>
          </a:solidFill>
          <a:ln>
            <a:solidFill>
              <a:srgbClr val="00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2040" tIns="27360" rIns="32040" bIns="2736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420" b="0" i="1" u="none" strike="noStrike">
                <a:solidFill>
                  <a:srgbClr val="AADCEB"/>
                </a:solidFill>
                <a:effectLst/>
                <a:uFillTx/>
                <a:latin typeface="Aptos"/>
              </a:rPr>
              <a:t>MVP: validar fluxos, não produto final</a:t>
            </a:r>
            <a:endParaRPr lang="en-US" sz="14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Rounded Rectangle 170"/>
          <p:cNvSpPr/>
          <p:nvPr/>
        </p:nvSpPr>
        <p:spPr>
          <a:xfrm>
            <a:off x="667440" y="5523120"/>
            <a:ext cx="10239840" cy="437400"/>
          </a:xfrm>
          <a:prstGeom prst="roundRect">
            <a:avLst>
              <a:gd name="adj" fmla="val 16667"/>
            </a:avLst>
          </a:prstGeom>
          <a:solidFill>
            <a:srgbClr val="06233B"/>
          </a:solidFill>
          <a:ln w="13970">
            <a:solidFill>
              <a:srgbClr val="00B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2440" tIns="45000" rIns="73080" bIns="36720" anchor="ctr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BE96"/>
                </a:solidFill>
                <a:effectLst/>
                <a:uFillTx/>
                <a:latin typeface="Aptos"/>
              </a:rPr>
              <a:t>Stack implementado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</a:pPr>
            <a:r>
              <a:rPr lang="en-US" sz="1400" b="0" u="none" strike="noStrike">
                <a:solidFill>
                  <a:srgbClr val="EEF7FF"/>
                </a:solidFill>
                <a:effectLst/>
                <a:uFillTx/>
                <a:latin typeface="Aptos"/>
              </a:rPr>
              <a:t>Python 3.12 · asyncio · SQLAlchemy/SQLite · cryptography · websockets · OpenSSL CLI · Docker · HTML/CSS/JS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Image 0" descr="/mnt/data/tcc_assets/debug_console.png"/>
          <p:cNvPicPr/>
          <p:nvPr/>
        </p:nvPicPr>
        <p:blipFill>
          <a:blip r:embed="rId1"/>
          <a:srcRect l="0" t="1502" r="0" b="1502"/>
          <a:stretch/>
        </p:blipFill>
        <p:spPr>
          <a:xfrm>
            <a:off x="236160" y="1161360"/>
            <a:ext cx="6211440" cy="386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7" name="Text 0"/>
          <p:cNvSpPr/>
          <p:nvPr/>
        </p:nvSpPr>
        <p:spPr>
          <a:xfrm>
            <a:off x="457200" y="4947120"/>
            <a:ext cx="525600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AAB7CA"/>
                </a:solidFill>
                <a:effectLst/>
                <a:uFillTx/>
                <a:latin typeface="Aptos"/>
                <a:ea typeface="Aptos"/>
              </a:rPr>
              <a:t>Debug Console: observabilidade do experimento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"/>
          <p:cNvSpPr/>
          <p:nvPr/>
        </p:nvSpPr>
        <p:spPr>
          <a:xfrm>
            <a:off x="6629400" y="1143000"/>
            <a:ext cx="5256000" cy="3564360"/>
          </a:xfrm>
          <a:prstGeom prst="roundRect">
            <a:avLst>
              <a:gd name="adj" fmla="val 16667"/>
            </a:avLst>
          </a:prstGeom>
          <a:solidFill>
            <a:srgbClr val="0F2440"/>
          </a:solidFill>
          <a:ln w="13970">
            <a:solidFill>
              <a:srgbClr val="27D9FF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t">
            <a:normAutofit/>
          </a:bodyPr>
          <a:p>
            <a:pPr>
              <a:lnSpc>
                <a:spcPct val="100000"/>
              </a:lnSpc>
            </a:pPr>
            <a:r>
              <a:rPr lang="en-US" sz="1700" b="1" u="none" strike="noStrike">
                <a:solidFill>
                  <a:srgbClr val="27D9FF"/>
                </a:solidFill>
                <a:effectLst/>
                <a:uFillTx/>
                <a:latin typeface="Aptos"/>
                <a:ea typeface="Aptos"/>
              </a:rPr>
              <a:t>Implemented flow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- Cluster local/Docker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- Bootstrap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- Peer validation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- DHT publish/query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- DRT resolution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- Virtual sessions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- Message/content transfer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- API + WebSocket + debug state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2"/>
          <p:cNvSpPr/>
          <p:nvPr/>
        </p:nvSpPr>
        <p:spPr>
          <a:xfrm>
            <a:off x="749880" y="5349600"/>
            <a:ext cx="10742400" cy="592560"/>
          </a:xfrm>
          <a:prstGeom prst="roundRect">
            <a:avLst>
              <a:gd name="adj" fmla="val 16667"/>
            </a:avLst>
          </a:prstGeom>
          <a:solidFill>
            <a:srgbClr val="07111F"/>
          </a:solidFill>
          <a:ln w="10160">
            <a:solidFill>
              <a:srgbClr val="27D9FF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A validação exercita interações entre camadas implementadas, não apenas funções isoladas.</a:t>
            </a:r>
            <a:endParaRPr lang="en-US" sz="172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3"/>
          <p:cNvSpPr/>
          <p:nvPr/>
        </p:nvSpPr>
        <p:spPr>
          <a:xfrm>
            <a:off x="411480" y="311040"/>
            <a:ext cx="8456400" cy="61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4F8FF"/>
                </a:solidFill>
                <a:effectLst/>
                <a:uFillTx/>
                <a:latin typeface="Aptos Display"/>
                <a:ea typeface="Aptos Display"/>
              </a:rPr>
              <a:t>Fluxos implementados e observabilidade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4"/>
          <p:cNvSpPr/>
          <p:nvPr/>
        </p:nvSpPr>
        <p:spPr>
          <a:xfrm>
            <a:off x="420480" y="758880"/>
            <a:ext cx="941652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AAB7CA"/>
                </a:solidFill>
                <a:effectLst/>
                <a:uFillTx/>
                <a:latin typeface="Aptos"/>
                <a:ea typeface="Aptos"/>
              </a:rPr>
              <a:t>O debug console e os endpoints locais ajudam a demonstrar estado real da execução.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5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 w="12700">
            <a:solidFill>
              <a:srgbClr val="27D9FF">
                <a:alpha val="8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6"/>
          <p:cNvSpPr/>
          <p:nvPr/>
        </p:nvSpPr>
        <p:spPr>
          <a:xfrm>
            <a:off x="9052560" y="301680"/>
            <a:ext cx="2649960" cy="318240"/>
          </a:xfrm>
          <a:prstGeom prst="roundRect">
            <a:avLst>
              <a:gd name="adj" fmla="val 16667"/>
            </a:avLst>
          </a:prstGeom>
          <a:solidFill>
            <a:srgbClr val="0E315D">
              <a:alpha val="98000"/>
            </a:srgbClr>
          </a:solidFill>
          <a:ln w="9525">
            <a:solidFill>
              <a:srgbClr val="164A8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1" u="none" strike="noStrike">
                <a:solidFill>
                  <a:srgbClr val="27D9FF"/>
                </a:solidFill>
                <a:effectLst/>
                <a:uFillTx/>
                <a:latin typeface="Aptos"/>
                <a:ea typeface="Aptos"/>
              </a:rPr>
              <a:t>12 · ATO 3 · FLUXOS</a:t>
            </a:r>
            <a:endParaRPr lang="en-US" sz="11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7"/>
          <p:cNvSpPr/>
          <p:nvPr/>
        </p:nvSpPr>
        <p:spPr>
          <a:xfrm>
            <a:off x="11448360" y="6528960"/>
            <a:ext cx="31752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66738A"/>
                </a:solidFill>
                <a:effectLst/>
                <a:uFillTx/>
                <a:latin typeface="Aptos"/>
                <a:ea typeface="Aptos"/>
              </a:rPr>
              <a:t>12</a:t>
            </a:r>
            <a:endParaRPr lang="en-US" sz="9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8"/>
          <p:cNvSpPr/>
          <p:nvPr/>
        </p:nvSpPr>
        <p:spPr>
          <a:xfrm>
            <a:off x="420480" y="6629400"/>
            <a:ext cx="338076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0" u="none" strike="noStrike">
                <a:solidFill>
                  <a:srgbClr val="66738A"/>
                </a:solidFill>
                <a:effectLst/>
                <a:uFillTx/>
                <a:latin typeface="Aptos"/>
                <a:ea typeface="Aptos"/>
              </a:rPr>
              <a:t>ATO 3 · FLUXOS</a:t>
            </a:r>
            <a:endParaRPr lang="en-US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Presenter Helper 12"/>
          <p:cNvSpPr/>
          <p:nvPr/>
        </p:nvSpPr>
        <p:spPr>
          <a:xfrm>
            <a:off x="411480" y="6181200"/>
            <a:ext cx="10650960" cy="382320"/>
          </a:xfrm>
          <a:prstGeom prst="roundRect">
            <a:avLst>
              <a:gd name="adj" fmla="val 16667"/>
            </a:avLst>
          </a:prstGeom>
          <a:solidFill>
            <a:srgbClr val="05121F"/>
          </a:solidFill>
          <a:ln>
            <a:solidFill>
              <a:srgbClr val="00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2040" tIns="27360" rIns="32040" bIns="2736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420" b="0" i="1" u="none" strike="noStrike">
                <a:solidFill>
                  <a:srgbClr val="AADCEB"/>
                </a:solidFill>
                <a:effectLst/>
                <a:uFillTx/>
                <a:latin typeface="Aptos"/>
              </a:rPr>
              <a:t>Prova: teste integra camadas reais</a:t>
            </a:r>
            <a:endParaRPr lang="en-US" sz="14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Image 0" descr="/mnt/data/tcc_assets/social_poc_feed.png"/>
          <p:cNvPicPr/>
          <p:nvPr/>
        </p:nvPicPr>
        <p:blipFill>
          <a:blip r:embed="rId1"/>
          <a:srcRect l="0" t="11428" r="0" b="11428"/>
          <a:stretch/>
        </p:blipFill>
        <p:spPr>
          <a:xfrm>
            <a:off x="4617720" y="1078920"/>
            <a:ext cx="6993360" cy="4624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8" name="Text 0"/>
          <p:cNvSpPr/>
          <p:nvPr/>
        </p:nvSpPr>
        <p:spPr>
          <a:xfrm>
            <a:off x="4617720" y="5650920"/>
            <a:ext cx="699336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AAB7CA"/>
                </a:solidFill>
                <a:effectLst/>
                <a:uFillTx/>
                <a:latin typeface="Aptos"/>
                <a:ea typeface="Aptos"/>
              </a:rPr>
              <a:t>Social PoC: perfis, feed e mensagens diretas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"/>
          <p:cNvSpPr/>
          <p:nvPr/>
        </p:nvSpPr>
        <p:spPr>
          <a:xfrm>
            <a:off x="502920" y="1170360"/>
            <a:ext cx="3911760" cy="3381480"/>
          </a:xfrm>
          <a:prstGeom prst="roundRect">
            <a:avLst>
              <a:gd name="adj" fmla="val 16667"/>
            </a:avLst>
          </a:prstGeom>
          <a:solidFill>
            <a:srgbClr val="0F2440"/>
          </a:solidFill>
          <a:ln w="13970">
            <a:solidFill>
              <a:srgbClr val="28D17C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t">
            <a:normAutofit/>
          </a:bodyPr>
          <a:p>
            <a:pPr>
              <a:lnSpc>
                <a:spcPct val="100000"/>
              </a:lnSpc>
            </a:pPr>
            <a:r>
              <a:rPr lang="en-US" sz="1700" b="1" u="none" strike="noStrike">
                <a:solidFill>
                  <a:srgbClr val="28D17C"/>
                </a:solidFill>
                <a:effectLst/>
                <a:uFillTx/>
                <a:latin typeface="Aptos"/>
                <a:ea typeface="Aptos"/>
              </a:rPr>
              <a:t>A PoC força a camada a resolver: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- criação de perfis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- publicação e resolução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- feed e sincronização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- mensagens diretas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- integração via API local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2"/>
          <p:cNvSpPr/>
          <p:nvPr/>
        </p:nvSpPr>
        <p:spPr>
          <a:xfrm>
            <a:off x="502920" y="4800600"/>
            <a:ext cx="3911760" cy="775440"/>
          </a:xfrm>
          <a:prstGeom prst="roundRect">
            <a:avLst>
              <a:gd name="adj" fmla="val 16667"/>
            </a:avLst>
          </a:prstGeom>
          <a:solidFill>
            <a:srgbClr val="07111F"/>
          </a:solidFill>
          <a:ln w="10160">
            <a:solidFill>
              <a:srgbClr val="27D9FF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7D9FF"/>
                </a:solidFill>
                <a:effectLst/>
                <a:uFillTx/>
                <a:latin typeface="Aptos"/>
                <a:ea typeface="Aptos"/>
              </a:rPr>
              <a:t>A rede social é o consumidor experimental da overlay, não o produto final.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3"/>
          <p:cNvSpPr/>
          <p:nvPr/>
        </p:nvSpPr>
        <p:spPr>
          <a:xfrm>
            <a:off x="411480" y="311040"/>
            <a:ext cx="8456400" cy="61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4F8FF"/>
                </a:solidFill>
                <a:effectLst/>
                <a:uFillTx/>
                <a:latin typeface="Aptos Display"/>
                <a:ea typeface="Aptos Display"/>
              </a:rPr>
              <a:t>Social PoC: aplicação real sobre a camada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4"/>
          <p:cNvSpPr/>
          <p:nvPr/>
        </p:nvSpPr>
        <p:spPr>
          <a:xfrm>
            <a:off x="420480" y="758880"/>
            <a:ext cx="941652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AAB7CA"/>
                </a:solidFill>
                <a:effectLst/>
                <a:uFillTx/>
                <a:latin typeface="Aptos"/>
                <a:ea typeface="Aptos"/>
              </a:rPr>
              <a:t>A aplicação demonstra consumo da camada overlay por meio da API local.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5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 w="12700">
            <a:solidFill>
              <a:srgbClr val="27D9FF">
                <a:alpha val="8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6"/>
          <p:cNvSpPr/>
          <p:nvPr/>
        </p:nvSpPr>
        <p:spPr>
          <a:xfrm>
            <a:off x="9052560" y="301680"/>
            <a:ext cx="2649960" cy="318240"/>
          </a:xfrm>
          <a:prstGeom prst="roundRect">
            <a:avLst>
              <a:gd name="adj" fmla="val 16667"/>
            </a:avLst>
          </a:prstGeom>
          <a:solidFill>
            <a:srgbClr val="0E315D">
              <a:alpha val="98000"/>
            </a:srgbClr>
          </a:solidFill>
          <a:ln w="9525">
            <a:solidFill>
              <a:srgbClr val="164A8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1" u="none" strike="noStrike">
                <a:solidFill>
                  <a:srgbClr val="27D9FF"/>
                </a:solidFill>
                <a:effectLst/>
                <a:uFillTx/>
                <a:latin typeface="Aptos"/>
                <a:ea typeface="Aptos"/>
              </a:rPr>
              <a:t>13 · ATO 3 · POC</a:t>
            </a:r>
            <a:endParaRPr lang="en-US" sz="11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7"/>
          <p:cNvSpPr/>
          <p:nvPr/>
        </p:nvSpPr>
        <p:spPr>
          <a:xfrm>
            <a:off x="11448360" y="6528960"/>
            <a:ext cx="31752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66738A"/>
                </a:solidFill>
                <a:effectLst/>
                <a:uFillTx/>
                <a:latin typeface="Aptos"/>
                <a:ea typeface="Aptos"/>
              </a:rPr>
              <a:t>13</a:t>
            </a:r>
            <a:endParaRPr lang="en-US" sz="9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8"/>
          <p:cNvSpPr/>
          <p:nvPr/>
        </p:nvSpPr>
        <p:spPr>
          <a:xfrm>
            <a:off x="420480" y="6629400"/>
            <a:ext cx="338076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0" u="none" strike="noStrike">
                <a:solidFill>
                  <a:srgbClr val="66738A"/>
                </a:solidFill>
                <a:effectLst/>
                <a:uFillTx/>
                <a:latin typeface="Aptos"/>
                <a:ea typeface="Aptos"/>
              </a:rPr>
              <a:t>ATO 3 · POC</a:t>
            </a:r>
            <a:endParaRPr lang="en-US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Presenter Helper 13"/>
          <p:cNvSpPr/>
          <p:nvPr/>
        </p:nvSpPr>
        <p:spPr>
          <a:xfrm>
            <a:off x="411480" y="6181200"/>
            <a:ext cx="10650960" cy="382320"/>
          </a:xfrm>
          <a:prstGeom prst="roundRect">
            <a:avLst>
              <a:gd name="adj" fmla="val 16667"/>
            </a:avLst>
          </a:prstGeom>
          <a:solidFill>
            <a:srgbClr val="05121F"/>
          </a:solidFill>
          <a:ln>
            <a:solidFill>
              <a:srgbClr val="00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2040" tIns="27360" rIns="32040" bIns="2736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420" b="0" i="1" u="none" strike="noStrike">
                <a:solidFill>
                  <a:srgbClr val="AADCEB"/>
                </a:solidFill>
                <a:effectLst/>
                <a:uFillTx/>
                <a:latin typeface="Aptos"/>
              </a:rPr>
              <a:t>PoC: aplicação consumindo a overlay</a:t>
            </a:r>
            <a:endParaRPr lang="en-US" sz="14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Image 0" descr="/mnt/data/tcc_assets/smoke_summary.png"/>
          <p:cNvPicPr/>
          <p:nvPr/>
        </p:nvPicPr>
        <p:blipFill>
          <a:blip r:embed="rId1"/>
          <a:stretch/>
        </p:blipFill>
        <p:spPr>
          <a:xfrm>
            <a:off x="5989320" y="1188720"/>
            <a:ext cx="5256000" cy="276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9" name="Text 0"/>
          <p:cNvSpPr/>
          <p:nvPr/>
        </p:nvSpPr>
        <p:spPr>
          <a:xfrm>
            <a:off x="5989320" y="4005000"/>
            <a:ext cx="525600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AAB7CA"/>
                </a:solidFill>
                <a:effectLst/>
                <a:uFillTx/>
                <a:latin typeface="Aptos"/>
                <a:ea typeface="Aptos"/>
              </a:rPr>
              <a:t>Evidência final dos smoke tests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"/>
          <p:cNvSpPr/>
          <p:nvPr/>
        </p:nvSpPr>
        <p:spPr>
          <a:xfrm>
            <a:off x="703440" y="1312920"/>
            <a:ext cx="1645200" cy="956520"/>
          </a:xfrm>
          <a:prstGeom prst="roundRect">
            <a:avLst>
              <a:gd name="adj" fmla="val 16667"/>
            </a:avLst>
          </a:prstGeom>
          <a:solidFill>
            <a:srgbClr val="0D2745"/>
          </a:solidFill>
          <a:ln w="13970">
            <a:solidFill>
              <a:srgbClr val="28D17C">
                <a:alpha val="9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2/2</a:t>
            </a:r>
            <a:endParaRPr lang="en-US" sz="15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smoke tests passed</a:t>
            </a:r>
            <a:endParaRPr lang="en-US" sz="15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2"/>
          <p:cNvSpPr/>
          <p:nvPr/>
        </p:nvSpPr>
        <p:spPr>
          <a:xfrm>
            <a:off x="2532240" y="1312920"/>
            <a:ext cx="1645200" cy="956520"/>
          </a:xfrm>
          <a:prstGeom prst="roundRect">
            <a:avLst>
              <a:gd name="adj" fmla="val 16667"/>
            </a:avLst>
          </a:prstGeom>
          <a:solidFill>
            <a:srgbClr val="0D2745"/>
          </a:solidFill>
          <a:ln w="13970">
            <a:solidFill>
              <a:srgbClr val="27D9FF">
                <a:alpha val="9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20</a:t>
            </a:r>
            <a:endParaRPr lang="en-US" sz="15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nós em cenário total</a:t>
            </a:r>
            <a:endParaRPr lang="en-US" sz="15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3"/>
          <p:cNvSpPr/>
          <p:nvPr/>
        </p:nvSpPr>
        <p:spPr>
          <a:xfrm>
            <a:off x="4361040" y="1312920"/>
            <a:ext cx="1645200" cy="956520"/>
          </a:xfrm>
          <a:prstGeom prst="roundRect">
            <a:avLst>
              <a:gd name="adj" fmla="val 16667"/>
            </a:avLst>
          </a:prstGeom>
          <a:solidFill>
            <a:srgbClr val="0D2745"/>
          </a:solidFill>
          <a:ln w="13970">
            <a:solidFill>
              <a:srgbClr val="F6B84B">
                <a:alpha val="9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373.7s</a:t>
            </a:r>
            <a:endParaRPr lang="en-US" sz="15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execução total</a:t>
            </a:r>
            <a:endParaRPr lang="en-US" sz="15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4"/>
          <p:cNvSpPr/>
          <p:nvPr/>
        </p:nvSpPr>
        <p:spPr>
          <a:xfrm>
            <a:off x="567000" y="2880360"/>
            <a:ext cx="5164560" cy="2759760"/>
          </a:xfrm>
          <a:prstGeom prst="roundRect">
            <a:avLst>
              <a:gd name="adj" fmla="val 16667"/>
            </a:avLst>
          </a:prstGeom>
          <a:solidFill>
            <a:srgbClr val="0F2440"/>
          </a:solidFill>
          <a:ln w="13970">
            <a:solidFill>
              <a:srgbClr val="28D17C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t">
            <a:normAutofit/>
          </a:bodyPr>
          <a:p>
            <a:pPr>
              <a:lnSpc>
                <a:spcPct val="100000"/>
              </a:lnSpc>
            </a:pPr>
            <a:r>
              <a:rPr lang="en-US" sz="1530" b="1" u="none" strike="noStrike">
                <a:solidFill>
                  <a:srgbClr val="28D17C"/>
                </a:solidFill>
                <a:effectLst/>
                <a:uFillTx/>
                <a:latin typeface="Aptos"/>
                <a:ea typeface="Aptos"/>
              </a:rPr>
              <a:t>Resultados funcionais</a:t>
            </a:r>
            <a:endParaRPr lang="en-US" sz="15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- Local physical cluster</a:t>
            </a:r>
            <a:endParaRPr lang="en-US" sz="15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- Virtual node creation</a:t>
            </a:r>
            <a:endParaRPr lang="en-US" sz="15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- DRT route publication</a:t>
            </a:r>
            <a:endParaRPr lang="en-US" sz="15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- Virtual session establishment</a:t>
            </a:r>
            <a:endParaRPr lang="en-US" sz="15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- Virtual message delivery</a:t>
            </a:r>
            <a:endParaRPr lang="en-US" sz="15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- Content advertisement and retrieval</a:t>
            </a:r>
            <a:endParaRPr lang="en-US" sz="15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- Social PoC integration</a:t>
            </a:r>
            <a:endParaRPr lang="en-US" sz="15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5"/>
          <p:cNvSpPr/>
          <p:nvPr/>
        </p:nvSpPr>
        <p:spPr>
          <a:xfrm>
            <a:off x="5989320" y="4343400"/>
            <a:ext cx="5256000" cy="1168560"/>
          </a:xfrm>
          <a:prstGeom prst="roundRect">
            <a:avLst>
              <a:gd name="adj" fmla="val 16667"/>
            </a:avLst>
          </a:prstGeom>
          <a:solidFill>
            <a:srgbClr val="0F2440"/>
          </a:solidFill>
          <a:ln w="13970">
            <a:solidFill>
              <a:srgbClr val="27D9FF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t">
            <a:normAutofit/>
          </a:bodyPr>
          <a:p>
            <a:pPr>
              <a:lnSpc>
                <a:spcPct val="100000"/>
              </a:lnSpc>
            </a:pPr>
            <a:r>
              <a:rPr lang="en-US" sz="1530" b="1" u="none" strike="noStrike">
                <a:solidFill>
                  <a:srgbClr val="27D9FF"/>
                </a:solidFill>
                <a:effectLst/>
                <a:uFillTx/>
                <a:latin typeface="Aptos"/>
                <a:ea typeface="Aptos"/>
              </a:rPr>
              <a:t>Interpretação</a:t>
            </a:r>
            <a:endParaRPr lang="en-US" sz="15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O MVP demonstrou o caminho funcional completo esperado para o protótipo: da execução de nós físicos até a aplicação consumindo a camada.</a:t>
            </a:r>
            <a:endParaRPr lang="en-US" sz="15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6"/>
          <p:cNvSpPr/>
          <p:nvPr/>
        </p:nvSpPr>
        <p:spPr>
          <a:xfrm>
            <a:off x="411480" y="311040"/>
            <a:ext cx="8456400" cy="61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4F8FF"/>
                </a:solidFill>
                <a:effectLst/>
                <a:uFillTx/>
                <a:latin typeface="Aptos Display"/>
                <a:ea typeface="Aptos Display"/>
              </a:rPr>
              <a:t>Resultados observados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7"/>
          <p:cNvSpPr/>
          <p:nvPr/>
        </p:nvSpPr>
        <p:spPr>
          <a:xfrm>
            <a:off x="420480" y="758880"/>
            <a:ext cx="941652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AAB7CA"/>
                </a:solidFill>
                <a:effectLst/>
                <a:uFillTx/>
                <a:latin typeface="Aptos"/>
                <a:ea typeface="Aptos"/>
              </a:rPr>
              <a:t>O MVP demonstrou o caminho funcional esperado para o protótipo.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8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 w="12700">
            <a:solidFill>
              <a:srgbClr val="27D9FF">
                <a:alpha val="8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9"/>
          <p:cNvSpPr/>
          <p:nvPr/>
        </p:nvSpPr>
        <p:spPr>
          <a:xfrm>
            <a:off x="9052560" y="301680"/>
            <a:ext cx="2649960" cy="318240"/>
          </a:xfrm>
          <a:prstGeom prst="roundRect">
            <a:avLst>
              <a:gd name="adj" fmla="val 16667"/>
            </a:avLst>
          </a:prstGeom>
          <a:solidFill>
            <a:srgbClr val="0E315D">
              <a:alpha val="98000"/>
            </a:srgbClr>
          </a:solidFill>
          <a:ln w="9525">
            <a:solidFill>
              <a:srgbClr val="164A8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1" u="none" strike="noStrike">
                <a:solidFill>
                  <a:srgbClr val="27D9FF"/>
                </a:solidFill>
                <a:effectLst/>
                <a:uFillTx/>
                <a:latin typeface="Aptos"/>
                <a:ea typeface="Aptos"/>
              </a:rPr>
              <a:t>14 · ATO 3 · RESULTADOS</a:t>
            </a:r>
            <a:endParaRPr lang="en-US" sz="11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0"/>
          <p:cNvSpPr/>
          <p:nvPr/>
        </p:nvSpPr>
        <p:spPr>
          <a:xfrm>
            <a:off x="11448360" y="6528960"/>
            <a:ext cx="31752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66738A"/>
                </a:solidFill>
                <a:effectLst/>
                <a:uFillTx/>
                <a:latin typeface="Aptos"/>
                <a:ea typeface="Aptos"/>
              </a:rPr>
              <a:t>14</a:t>
            </a:r>
            <a:endParaRPr lang="en-US" sz="9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1"/>
          <p:cNvSpPr/>
          <p:nvPr/>
        </p:nvSpPr>
        <p:spPr>
          <a:xfrm>
            <a:off x="420480" y="6629400"/>
            <a:ext cx="338076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0" u="none" strike="noStrike">
                <a:solidFill>
                  <a:srgbClr val="66738A"/>
                </a:solidFill>
                <a:effectLst/>
                <a:uFillTx/>
                <a:latin typeface="Aptos"/>
                <a:ea typeface="Aptos"/>
              </a:rPr>
              <a:t>ATO 3 · RESULTADOS</a:t>
            </a:r>
            <a:endParaRPr lang="en-US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Presenter Helper 14"/>
          <p:cNvSpPr/>
          <p:nvPr/>
        </p:nvSpPr>
        <p:spPr>
          <a:xfrm>
            <a:off x="411480" y="6181200"/>
            <a:ext cx="10650960" cy="382320"/>
          </a:xfrm>
          <a:prstGeom prst="roundRect">
            <a:avLst>
              <a:gd name="adj" fmla="val 16667"/>
            </a:avLst>
          </a:prstGeom>
          <a:solidFill>
            <a:srgbClr val="05121F"/>
          </a:solidFill>
          <a:ln>
            <a:solidFill>
              <a:srgbClr val="00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2040" tIns="27360" rIns="32040" bIns="2736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420" b="0" i="1" u="none" strike="noStrike">
                <a:solidFill>
                  <a:srgbClr val="AADCEB"/>
                </a:solidFill>
                <a:effectLst/>
                <a:uFillTx/>
                <a:latin typeface="Aptos"/>
              </a:rPr>
              <a:t>Resultado: o caminho completo funcionou</a:t>
            </a:r>
            <a:endParaRPr lang="en-US" sz="14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Rounded Rectangle 206"/>
          <p:cNvSpPr/>
          <p:nvPr/>
        </p:nvSpPr>
        <p:spPr>
          <a:xfrm>
            <a:off x="658440" y="5330880"/>
            <a:ext cx="4799160" cy="840240"/>
          </a:xfrm>
          <a:prstGeom prst="roundRect">
            <a:avLst>
              <a:gd name="adj" fmla="val 16667"/>
            </a:avLst>
          </a:prstGeom>
          <a:solidFill>
            <a:srgbClr val="06233B"/>
          </a:solidFill>
          <a:ln w="13970">
            <a:solidFill>
              <a:srgbClr val="00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2440" tIns="45000" rIns="73080" bIns="36720" anchor="ctr">
            <a:norm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CFFF"/>
                </a:solidFill>
                <a:effectLst/>
                <a:uFillTx/>
                <a:latin typeface="Aptos"/>
              </a:rPr>
              <a:t>Leitura correta do resultado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</a:pPr>
            <a:r>
              <a:rPr lang="en-US" sz="1300" b="0" u="none" strike="noStrike">
                <a:solidFill>
                  <a:srgbClr val="EEF7FF"/>
                </a:solidFill>
                <a:effectLst/>
                <a:uFillTx/>
                <a:latin typeface="Aptos"/>
              </a:rPr>
              <a:t>Evidência funcional dos fluxos; não é medição de throughput, latência global ou rede pública.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Text 0"/>
          <p:cNvSpPr/>
          <p:nvPr/>
        </p:nvSpPr>
        <p:spPr>
          <a:xfrm>
            <a:off x="502920" y="1078920"/>
            <a:ext cx="11153880" cy="619920"/>
          </a:xfrm>
          <a:prstGeom prst="roundRect">
            <a:avLst>
              <a:gd name="adj" fmla="val 16667"/>
            </a:avLst>
          </a:prstGeom>
          <a:solidFill>
            <a:srgbClr val="1E1B0E"/>
          </a:solidFill>
          <a:ln w="11430">
            <a:solidFill>
              <a:srgbClr val="F6B8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50" b="1" u="none" strike="noStrike">
                <a:solidFill>
                  <a:srgbClr val="F6B84B"/>
                </a:solidFill>
                <a:effectLst/>
                <a:uFillTx/>
                <a:latin typeface="Aptos"/>
                <a:ea typeface="Aptos"/>
              </a:rPr>
              <a:t>AnonNetCore é um MVP funcional: valida arquitetura e protocolos, mas não é produto de produção.</a:t>
            </a:r>
            <a:endParaRPr lang="en-US" sz="1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"/>
          <p:cNvSpPr/>
          <p:nvPr/>
        </p:nvSpPr>
        <p:spPr>
          <a:xfrm>
            <a:off x="502920" y="1847160"/>
            <a:ext cx="5347440" cy="1388160"/>
          </a:xfrm>
          <a:prstGeom prst="roundRect">
            <a:avLst>
              <a:gd name="adj" fmla="val 16667"/>
            </a:avLst>
          </a:prstGeom>
          <a:solidFill>
            <a:srgbClr val="0F2440"/>
          </a:solidFill>
          <a:ln w="13970">
            <a:solidFill>
              <a:srgbClr val="FF5D6C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t">
            <a:normAutofit/>
          </a:bodyPr>
          <a:p>
            <a:pPr>
              <a:lnSpc>
                <a:spcPct val="100000"/>
              </a:lnSpc>
            </a:pPr>
            <a:r>
              <a:rPr lang="en-US" sz="1480" b="1" u="none" strike="noStrike">
                <a:solidFill>
                  <a:srgbClr val="FF5D6C"/>
                </a:solidFill>
                <a:effectLst/>
                <a:uFillTx/>
                <a:latin typeface="Aptos"/>
                <a:ea typeface="Aptos"/>
              </a:rPr>
              <a:t>Security limits</a:t>
            </a:r>
            <a:endParaRPr lang="en-US" sz="14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8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sem defesa completa contra Sybil/flooding; sem auditoria formal; chaves locais e API local ainda não hardenizadas</a:t>
            </a:r>
            <a:endParaRPr lang="en-US" sz="14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2"/>
          <p:cNvSpPr/>
          <p:nvPr/>
        </p:nvSpPr>
        <p:spPr>
          <a:xfrm>
            <a:off x="6172200" y="1847160"/>
            <a:ext cx="5347440" cy="1388160"/>
          </a:xfrm>
          <a:prstGeom prst="roundRect">
            <a:avLst>
              <a:gd name="adj" fmla="val 16667"/>
            </a:avLst>
          </a:prstGeom>
          <a:solidFill>
            <a:srgbClr val="0F2440"/>
          </a:solidFill>
          <a:ln w="13970">
            <a:solidFill>
              <a:srgbClr val="F6B84B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t">
            <a:normAutofit/>
          </a:bodyPr>
          <a:p>
            <a:pPr>
              <a:lnSpc>
                <a:spcPct val="100000"/>
              </a:lnSpc>
            </a:pPr>
            <a:r>
              <a:rPr lang="en-US" sz="1480" b="1" u="none" strike="noStrike">
                <a:solidFill>
                  <a:srgbClr val="F6B84B"/>
                </a:solidFill>
                <a:effectLst/>
                <a:uFillTx/>
                <a:latin typeface="Aptos"/>
                <a:ea typeface="Aptos"/>
              </a:rPr>
              <a:t>Network limits</a:t>
            </a:r>
            <a:endParaRPr lang="en-US" sz="14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8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NAT traversal completo, STUN/TURN, QUIC e relay network madura ainda são futuros</a:t>
            </a:r>
            <a:endParaRPr lang="en-US" sz="14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3"/>
          <p:cNvSpPr/>
          <p:nvPr/>
        </p:nvSpPr>
        <p:spPr>
          <a:xfrm>
            <a:off x="502920" y="3410640"/>
            <a:ext cx="5347440" cy="1388160"/>
          </a:xfrm>
          <a:prstGeom prst="roundRect">
            <a:avLst>
              <a:gd name="adj" fmla="val 16667"/>
            </a:avLst>
          </a:prstGeom>
          <a:solidFill>
            <a:srgbClr val="0F2440"/>
          </a:solidFill>
          <a:ln w="13970">
            <a:solidFill>
              <a:srgbClr val="27D9FF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t">
            <a:normAutofit/>
          </a:bodyPr>
          <a:p>
            <a:pPr>
              <a:lnSpc>
                <a:spcPct val="100000"/>
              </a:lnSpc>
            </a:pPr>
            <a:r>
              <a:rPr lang="en-US" sz="1480" b="1" u="none" strike="noStrike">
                <a:solidFill>
                  <a:srgbClr val="27D9FF"/>
                </a:solidFill>
                <a:effectLst/>
                <a:uFillTx/>
                <a:latin typeface="Aptos"/>
                <a:ea typeface="Aptos"/>
              </a:rPr>
              <a:t>DHT / route limits</a:t>
            </a:r>
            <a:endParaRPr lang="en-US" sz="14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8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sem Kademlia completa; conflitos e churn simples; random_walk_ttl é a estratégia principal; correlação global não resolvida</a:t>
            </a:r>
            <a:endParaRPr lang="en-US" sz="14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4"/>
          <p:cNvSpPr/>
          <p:nvPr/>
        </p:nvSpPr>
        <p:spPr>
          <a:xfrm>
            <a:off x="6172200" y="3410640"/>
            <a:ext cx="5347440" cy="1388160"/>
          </a:xfrm>
          <a:prstGeom prst="roundRect">
            <a:avLst>
              <a:gd name="adj" fmla="val 16667"/>
            </a:avLst>
          </a:prstGeom>
          <a:solidFill>
            <a:srgbClr val="0F2440"/>
          </a:solidFill>
          <a:ln w="13970">
            <a:solidFill>
              <a:srgbClr val="8A6DFF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t">
            <a:normAutofit/>
          </a:bodyPr>
          <a:p>
            <a:pPr>
              <a:lnSpc>
                <a:spcPct val="100000"/>
              </a:lnSpc>
            </a:pPr>
            <a:r>
              <a:rPr lang="en-US" sz="1480" b="1" u="none" strike="noStrike">
                <a:solidFill>
                  <a:srgbClr val="8A6DFF"/>
                </a:solidFill>
                <a:effectLst/>
                <a:uFillTx/>
                <a:latin typeface="Aptos"/>
                <a:ea typeface="Aptos"/>
              </a:rPr>
              <a:t>Reliability / PoC limits</a:t>
            </a:r>
            <a:endParaRPr lang="en-US" sz="14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8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confiabilidade leve; sem congestion control completo; feed, mídia, paginação, moderação e busca ainda simplificados</a:t>
            </a:r>
            <a:endParaRPr lang="en-US" sz="14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5"/>
          <p:cNvSpPr/>
          <p:nvPr/>
        </p:nvSpPr>
        <p:spPr>
          <a:xfrm>
            <a:off x="595080" y="5898600"/>
            <a:ext cx="10833840" cy="501120"/>
          </a:xfrm>
          <a:prstGeom prst="roundRect">
            <a:avLst>
              <a:gd name="adj" fmla="val 16667"/>
            </a:avLst>
          </a:prstGeom>
          <a:solidFill>
            <a:srgbClr val="07111F"/>
          </a:solidFill>
          <a:ln w="7620">
            <a:solidFill>
              <a:srgbClr val="2445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2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A maturidade da pesquisa também está em declarar corretamente o que ela não resolve.</a:t>
            </a:r>
            <a:endParaRPr lang="en-US" sz="16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6"/>
          <p:cNvSpPr/>
          <p:nvPr/>
        </p:nvSpPr>
        <p:spPr>
          <a:xfrm>
            <a:off x="411480" y="311040"/>
            <a:ext cx="8456400" cy="61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4F8FF"/>
                </a:solidFill>
                <a:effectLst/>
                <a:uFillTx/>
                <a:latin typeface="Aptos Display"/>
                <a:ea typeface="Aptos Display"/>
              </a:rPr>
              <a:t>Limitações assumidas do MVP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7"/>
          <p:cNvSpPr/>
          <p:nvPr/>
        </p:nvSpPr>
        <p:spPr>
          <a:xfrm>
            <a:off x="420480" y="758880"/>
            <a:ext cx="941652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AAB7CA"/>
                </a:solidFill>
                <a:effectLst/>
                <a:uFillTx/>
                <a:latin typeface="Aptos"/>
                <a:ea typeface="Aptos"/>
              </a:rPr>
              <a:t>Os limites definem a fronteira entre protótipo experimental e rede pública robusta.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8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 w="12700">
            <a:solidFill>
              <a:srgbClr val="27D9FF">
                <a:alpha val="8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9"/>
          <p:cNvSpPr/>
          <p:nvPr/>
        </p:nvSpPr>
        <p:spPr>
          <a:xfrm>
            <a:off x="9052560" y="301680"/>
            <a:ext cx="2649960" cy="318240"/>
          </a:xfrm>
          <a:prstGeom prst="roundRect">
            <a:avLst>
              <a:gd name="adj" fmla="val 16667"/>
            </a:avLst>
          </a:prstGeom>
          <a:solidFill>
            <a:srgbClr val="0E315D">
              <a:alpha val="98000"/>
            </a:srgbClr>
          </a:solidFill>
          <a:ln w="9525">
            <a:solidFill>
              <a:srgbClr val="164A8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1" u="none" strike="noStrike">
                <a:solidFill>
                  <a:srgbClr val="27D9FF"/>
                </a:solidFill>
                <a:effectLst/>
                <a:uFillTx/>
                <a:latin typeface="Aptos"/>
                <a:ea typeface="Aptos"/>
              </a:rPr>
              <a:t>15 · ATO 4 · LIMITAÇÕES</a:t>
            </a:r>
            <a:endParaRPr lang="en-US" sz="11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0"/>
          <p:cNvSpPr/>
          <p:nvPr/>
        </p:nvSpPr>
        <p:spPr>
          <a:xfrm>
            <a:off x="11448360" y="6528960"/>
            <a:ext cx="31752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66738A"/>
                </a:solidFill>
                <a:effectLst/>
                <a:uFillTx/>
                <a:latin typeface="Aptos"/>
                <a:ea typeface="Aptos"/>
              </a:rPr>
              <a:t>15</a:t>
            </a:r>
            <a:endParaRPr lang="en-US" sz="9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1"/>
          <p:cNvSpPr/>
          <p:nvPr/>
        </p:nvSpPr>
        <p:spPr>
          <a:xfrm>
            <a:off x="420480" y="6629400"/>
            <a:ext cx="338076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0" u="none" strike="noStrike">
                <a:solidFill>
                  <a:srgbClr val="66738A"/>
                </a:solidFill>
                <a:effectLst/>
                <a:uFillTx/>
                <a:latin typeface="Aptos"/>
                <a:ea typeface="Aptos"/>
              </a:rPr>
              <a:t>ATO 4 · LIMITAÇÕES</a:t>
            </a:r>
            <a:endParaRPr lang="en-US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Rounded Rectangle 219"/>
          <p:cNvSpPr/>
          <p:nvPr/>
        </p:nvSpPr>
        <p:spPr>
          <a:xfrm>
            <a:off x="823320" y="4910760"/>
            <a:ext cx="10148400" cy="758160"/>
          </a:xfrm>
          <a:prstGeom prst="roundRect">
            <a:avLst>
              <a:gd name="adj" fmla="val 16667"/>
            </a:avLst>
          </a:prstGeom>
          <a:solidFill>
            <a:srgbClr val="06233B"/>
          </a:solidFill>
          <a:ln w="13970">
            <a:solidFill>
              <a:srgbClr val="DC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2440" tIns="45000" rIns="73080" bIns="36720" anchor="ctr">
            <a:norm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DC4B5F"/>
                </a:solidFill>
                <a:effectLst/>
                <a:uFillTx/>
                <a:latin typeface="Aptos"/>
              </a:rPr>
              <a:t>Limites adicionais importantes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9"/>
              </a:spcBef>
            </a:pPr>
            <a:r>
              <a:rPr lang="en-US" sz="1300" b="0" u="none" strike="noStrike">
                <a:solidFill>
                  <a:srgbClr val="EEF7FF"/>
                </a:solidFill>
                <a:effectLst/>
                <a:uFillTx/>
                <a:latin typeface="Aptos"/>
                <a:ea typeface="Microsoft YaHei"/>
              </a:rPr>
              <a:t>key storage simples · sem local auth/hardening de API · sem Sybil hardening completo · sem congestion control completo </a:t>
            </a:r>
            <a:r>
              <a:rPr lang="en-US" sz="1300" b="0" u="none" strike="noStrike">
                <a:solidFill>
                  <a:srgbClr val="EEF7FF"/>
                </a:solidFill>
                <a:effectLst/>
                <a:uFillTx/>
                <a:latin typeface="Aptos"/>
              </a:rPr>
              <a:t>· sem frame, usa JSON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ext 0"/>
          <p:cNvSpPr/>
          <p:nvPr/>
        </p:nvSpPr>
        <p:spPr>
          <a:xfrm>
            <a:off x="658440" y="1380600"/>
            <a:ext cx="583560" cy="583560"/>
          </a:xfrm>
          <a:prstGeom prst="ellipse">
            <a:avLst/>
          </a:prstGeom>
          <a:solidFill>
            <a:srgbClr val="F6B84B"/>
          </a:solidFill>
          <a:ln w="0">
            <a:solidFill>
              <a:srgbClr val="F6B84B"/>
            </a:solidFill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07111F"/>
                </a:solidFill>
                <a:effectLst/>
                <a:uFillTx/>
                <a:latin typeface="Aptos"/>
                <a:ea typeface="Aptos"/>
              </a:rPr>
              <a:t>1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1"/>
          <p:cNvSpPr/>
          <p:nvPr/>
        </p:nvSpPr>
        <p:spPr>
          <a:xfrm>
            <a:off x="1481040" y="1691640"/>
            <a:ext cx="667800" cy="360"/>
          </a:xfrm>
          <a:prstGeom prst="line">
            <a:avLst/>
          </a:prstGeom>
          <a:ln w="15875">
            <a:solidFill>
              <a:srgbClr val="F6B84B">
                <a:alpha val="95000"/>
              </a:srgbClr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2"/>
          <p:cNvSpPr/>
          <p:nvPr/>
        </p:nvSpPr>
        <p:spPr>
          <a:xfrm>
            <a:off x="2011680" y="1225440"/>
            <a:ext cx="9370800" cy="894240"/>
          </a:xfrm>
          <a:prstGeom prst="roundRect">
            <a:avLst>
              <a:gd name="adj" fmla="val 16667"/>
            </a:avLst>
          </a:prstGeom>
          <a:solidFill>
            <a:srgbClr val="0F2440"/>
          </a:solidFill>
          <a:ln w="13970">
            <a:solidFill>
              <a:srgbClr val="F6B84B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t">
            <a:normAutofit/>
          </a:bodyPr>
          <a:p>
            <a:pPr>
              <a:lnSpc>
                <a:spcPct val="100000"/>
              </a:lnSpc>
            </a:pPr>
            <a:r>
              <a:rPr lang="en-US" sz="1530" b="1" u="none" strike="noStrike">
                <a:solidFill>
                  <a:srgbClr val="F6B84B"/>
                </a:solidFill>
                <a:effectLst/>
                <a:uFillTx/>
                <a:latin typeface="Aptos"/>
                <a:ea typeface="Aptos"/>
              </a:rPr>
              <a:t>Conectividade</a:t>
            </a:r>
            <a:endParaRPr lang="en-US" sz="15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UDP hole punching, STUN/TURN, relay hardening e QUIC</a:t>
            </a:r>
            <a:endParaRPr lang="en-US" sz="15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3"/>
          <p:cNvSpPr/>
          <p:nvPr/>
        </p:nvSpPr>
        <p:spPr>
          <a:xfrm>
            <a:off x="658440" y="2477880"/>
            <a:ext cx="583560" cy="583560"/>
          </a:xfrm>
          <a:prstGeom prst="ellipse">
            <a:avLst/>
          </a:prstGeom>
          <a:solidFill>
            <a:srgbClr val="27D9FF"/>
          </a:solidFill>
          <a:ln w="0">
            <a:solidFill>
              <a:srgbClr val="27D9FF"/>
            </a:solidFill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07111F"/>
                </a:solidFill>
                <a:effectLst/>
                <a:uFillTx/>
                <a:latin typeface="Aptos"/>
                <a:ea typeface="Aptos"/>
              </a:rPr>
              <a:t>2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4"/>
          <p:cNvSpPr/>
          <p:nvPr/>
        </p:nvSpPr>
        <p:spPr>
          <a:xfrm>
            <a:off x="1481040" y="2770560"/>
            <a:ext cx="667800" cy="360"/>
          </a:xfrm>
          <a:prstGeom prst="line">
            <a:avLst/>
          </a:prstGeom>
          <a:ln w="15875">
            <a:solidFill>
              <a:srgbClr val="27D9FF">
                <a:alpha val="95000"/>
              </a:srgbClr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5"/>
          <p:cNvSpPr/>
          <p:nvPr/>
        </p:nvSpPr>
        <p:spPr>
          <a:xfrm>
            <a:off x="2011680" y="2322720"/>
            <a:ext cx="9370800" cy="894240"/>
          </a:xfrm>
          <a:prstGeom prst="roundRect">
            <a:avLst>
              <a:gd name="adj" fmla="val 16667"/>
            </a:avLst>
          </a:prstGeom>
          <a:solidFill>
            <a:srgbClr val="0F2440"/>
          </a:solidFill>
          <a:ln w="13970">
            <a:solidFill>
              <a:srgbClr val="27D9FF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t">
            <a:normAutofit/>
          </a:bodyPr>
          <a:p>
            <a:pPr>
              <a:lnSpc>
                <a:spcPct val="100000"/>
              </a:lnSpc>
            </a:pPr>
            <a:r>
              <a:rPr lang="en-US" sz="1480" b="1" u="none" strike="noStrike">
                <a:solidFill>
                  <a:srgbClr val="27D9FF"/>
                </a:solidFill>
                <a:effectLst/>
                <a:uFillTx/>
                <a:latin typeface="Aptos"/>
                <a:ea typeface="Aptos"/>
              </a:rPr>
              <a:t>DHT e churn</a:t>
            </a:r>
            <a:endParaRPr lang="en-US" sz="14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8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buckets, lookup iterativo, refresh, conflitos e sharding</a:t>
            </a:r>
            <a:endParaRPr lang="en-US" sz="14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6"/>
          <p:cNvSpPr/>
          <p:nvPr/>
        </p:nvSpPr>
        <p:spPr>
          <a:xfrm>
            <a:off x="658440" y="3575160"/>
            <a:ext cx="583560" cy="583560"/>
          </a:xfrm>
          <a:prstGeom prst="ellipse">
            <a:avLst/>
          </a:prstGeom>
          <a:solidFill>
            <a:srgbClr val="FF5D6C"/>
          </a:solidFill>
          <a:ln w="0">
            <a:solidFill>
              <a:srgbClr val="FF5D6C"/>
            </a:solidFill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07111F"/>
                </a:solidFill>
                <a:effectLst/>
                <a:uFillTx/>
                <a:latin typeface="Aptos"/>
                <a:ea typeface="Aptos"/>
              </a:rPr>
              <a:t>3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7"/>
          <p:cNvSpPr/>
          <p:nvPr/>
        </p:nvSpPr>
        <p:spPr>
          <a:xfrm>
            <a:off x="1481040" y="3849480"/>
            <a:ext cx="667800" cy="360"/>
          </a:xfrm>
          <a:prstGeom prst="line">
            <a:avLst/>
          </a:prstGeom>
          <a:ln w="15875">
            <a:solidFill>
              <a:srgbClr val="FF5D6C">
                <a:alpha val="95000"/>
              </a:srgbClr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8"/>
          <p:cNvSpPr/>
          <p:nvPr/>
        </p:nvSpPr>
        <p:spPr>
          <a:xfrm>
            <a:off x="2011680" y="3420000"/>
            <a:ext cx="9370800" cy="894240"/>
          </a:xfrm>
          <a:prstGeom prst="roundRect">
            <a:avLst>
              <a:gd name="adj" fmla="val 16667"/>
            </a:avLst>
          </a:prstGeom>
          <a:solidFill>
            <a:srgbClr val="0F2440"/>
          </a:solidFill>
          <a:ln w="13970">
            <a:solidFill>
              <a:srgbClr val="FF5D6C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t">
            <a:normAutofit/>
          </a:bodyPr>
          <a:p>
            <a:pPr>
              <a:lnSpc>
                <a:spcPct val="100000"/>
              </a:lnSpc>
            </a:pPr>
            <a:r>
              <a:rPr lang="en-US" sz="1480" b="1" u="none" strike="noStrike">
                <a:solidFill>
                  <a:srgbClr val="FF5D6C"/>
                </a:solidFill>
                <a:effectLst/>
                <a:uFillTx/>
                <a:latin typeface="Aptos"/>
                <a:ea typeface="Aptos"/>
              </a:rPr>
              <a:t>Segurança pública</a:t>
            </a:r>
            <a:endParaRPr lang="en-US" sz="14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8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rate limits, scoring, Sybil hardening, local auth e auditoria</a:t>
            </a:r>
            <a:endParaRPr lang="en-US" sz="14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9"/>
          <p:cNvSpPr/>
          <p:nvPr/>
        </p:nvSpPr>
        <p:spPr>
          <a:xfrm>
            <a:off x="658440" y="4672440"/>
            <a:ext cx="583560" cy="583560"/>
          </a:xfrm>
          <a:prstGeom prst="ellipse">
            <a:avLst/>
          </a:prstGeom>
          <a:solidFill>
            <a:srgbClr val="28D17C"/>
          </a:solidFill>
          <a:ln w="0">
            <a:solidFill>
              <a:srgbClr val="28D17C"/>
            </a:solidFill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07111F"/>
                </a:solidFill>
                <a:effectLst/>
                <a:uFillTx/>
                <a:latin typeface="Aptos"/>
                <a:ea typeface="Aptos"/>
              </a:rPr>
              <a:t>4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10"/>
          <p:cNvSpPr/>
          <p:nvPr/>
        </p:nvSpPr>
        <p:spPr>
          <a:xfrm>
            <a:off x="1481040" y="4928400"/>
            <a:ext cx="667800" cy="360"/>
          </a:xfrm>
          <a:prstGeom prst="line">
            <a:avLst/>
          </a:prstGeom>
          <a:ln w="15875">
            <a:solidFill>
              <a:srgbClr val="28D17C">
                <a:alpha val="95000"/>
              </a:srgbClr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11"/>
          <p:cNvSpPr/>
          <p:nvPr/>
        </p:nvSpPr>
        <p:spPr>
          <a:xfrm>
            <a:off x="2011680" y="4517280"/>
            <a:ext cx="9370800" cy="894240"/>
          </a:xfrm>
          <a:prstGeom prst="roundRect">
            <a:avLst>
              <a:gd name="adj" fmla="val 16667"/>
            </a:avLst>
          </a:prstGeom>
          <a:solidFill>
            <a:srgbClr val="0F2440"/>
          </a:solidFill>
          <a:ln w="13970">
            <a:solidFill>
              <a:srgbClr val="28D17C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t">
            <a:normAutofit/>
          </a:bodyPr>
          <a:p>
            <a:pPr>
              <a:lnSpc>
                <a:spcPct val="100000"/>
              </a:lnSpc>
            </a:pPr>
            <a:r>
              <a:rPr lang="en-US" sz="1480" b="1" u="none" strike="noStrike">
                <a:solidFill>
                  <a:srgbClr val="28D17C"/>
                </a:solidFill>
                <a:effectLst/>
                <a:uFillTx/>
                <a:latin typeface="Aptos"/>
                <a:ea typeface="Aptos"/>
              </a:rPr>
              <a:t>Escala e aplicação</a:t>
            </a:r>
            <a:endParaRPr lang="en-US" sz="14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8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testes longos, churn, perda, media objects, feeds paginados</a:t>
            </a:r>
            <a:endParaRPr lang="en-US" sz="14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12"/>
          <p:cNvSpPr/>
          <p:nvPr/>
        </p:nvSpPr>
        <p:spPr>
          <a:xfrm>
            <a:off x="685800" y="5641920"/>
            <a:ext cx="10971000" cy="455400"/>
          </a:xfrm>
          <a:prstGeom prst="roundRect">
            <a:avLst>
              <a:gd name="adj" fmla="val 16667"/>
            </a:avLst>
          </a:prstGeom>
          <a:solidFill>
            <a:srgbClr val="07111F"/>
          </a:solidFill>
          <a:ln w="6350">
            <a:solidFill>
              <a:srgbClr val="2445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20" b="1" u="none" strike="noStrike">
                <a:solidFill>
                  <a:srgbClr val="27D9FF"/>
                </a:solidFill>
                <a:effectLst/>
                <a:uFillTx/>
                <a:latin typeface="Aptos"/>
                <a:ea typeface="Aptos"/>
              </a:rPr>
              <a:t>Prioridade de evolução: primeiro conectividade e hardening; depois escala pública e recursos de aplicação.</a:t>
            </a:r>
            <a:endParaRPr lang="en-US" sz="16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3"/>
          <p:cNvSpPr/>
          <p:nvPr/>
        </p:nvSpPr>
        <p:spPr>
          <a:xfrm>
            <a:off x="411480" y="311040"/>
            <a:ext cx="8456400" cy="61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4F8FF"/>
                </a:solidFill>
                <a:effectLst/>
                <a:uFillTx/>
                <a:latin typeface="Aptos Display"/>
                <a:ea typeface="Aptos Display"/>
              </a:rPr>
              <a:t>Roadmap técnico pós-MVP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14"/>
          <p:cNvSpPr/>
          <p:nvPr/>
        </p:nvSpPr>
        <p:spPr>
          <a:xfrm>
            <a:off x="420480" y="758880"/>
            <a:ext cx="941652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AAB7CA"/>
                </a:solidFill>
                <a:effectLst/>
                <a:uFillTx/>
                <a:latin typeface="Aptos"/>
                <a:ea typeface="Aptos"/>
              </a:rPr>
              <a:t>O faults.md vira plano de evolução técnico, não apenas lista de problemas.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15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 w="12700">
            <a:solidFill>
              <a:srgbClr val="27D9FF">
                <a:alpha val="8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16"/>
          <p:cNvSpPr/>
          <p:nvPr/>
        </p:nvSpPr>
        <p:spPr>
          <a:xfrm>
            <a:off x="9052560" y="301680"/>
            <a:ext cx="2649960" cy="318240"/>
          </a:xfrm>
          <a:prstGeom prst="roundRect">
            <a:avLst>
              <a:gd name="adj" fmla="val 16667"/>
            </a:avLst>
          </a:prstGeom>
          <a:solidFill>
            <a:srgbClr val="0E315D">
              <a:alpha val="98000"/>
            </a:srgbClr>
          </a:solidFill>
          <a:ln w="9525">
            <a:solidFill>
              <a:srgbClr val="164A8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1" u="none" strike="noStrike">
                <a:solidFill>
                  <a:srgbClr val="27D9FF"/>
                </a:solidFill>
                <a:effectLst/>
                <a:uFillTx/>
                <a:latin typeface="Aptos"/>
                <a:ea typeface="Aptos"/>
              </a:rPr>
              <a:t>16 · ATO 4 · FUTURO</a:t>
            </a:r>
            <a:endParaRPr lang="en-US" sz="11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17"/>
          <p:cNvSpPr/>
          <p:nvPr/>
        </p:nvSpPr>
        <p:spPr>
          <a:xfrm>
            <a:off x="11448360" y="6528960"/>
            <a:ext cx="31752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66738A"/>
                </a:solidFill>
                <a:effectLst/>
                <a:uFillTx/>
                <a:latin typeface="Aptos"/>
                <a:ea typeface="Aptos"/>
              </a:rPr>
              <a:t>16</a:t>
            </a:r>
            <a:endParaRPr lang="en-US" sz="9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18"/>
          <p:cNvSpPr/>
          <p:nvPr/>
        </p:nvSpPr>
        <p:spPr>
          <a:xfrm>
            <a:off x="420480" y="6629400"/>
            <a:ext cx="338076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0" u="none" strike="noStrike">
                <a:solidFill>
                  <a:srgbClr val="66738A"/>
                </a:solidFill>
                <a:effectLst/>
                <a:uFillTx/>
                <a:latin typeface="Aptos"/>
                <a:ea typeface="Aptos"/>
              </a:rPr>
              <a:t>ATO 4 · FUTURO</a:t>
            </a:r>
            <a:endParaRPr lang="en-US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Presenter Helper 16"/>
          <p:cNvSpPr/>
          <p:nvPr/>
        </p:nvSpPr>
        <p:spPr>
          <a:xfrm>
            <a:off x="411480" y="6181200"/>
            <a:ext cx="10650960" cy="382320"/>
          </a:xfrm>
          <a:prstGeom prst="roundRect">
            <a:avLst>
              <a:gd name="adj" fmla="val 16667"/>
            </a:avLst>
          </a:prstGeom>
          <a:solidFill>
            <a:srgbClr val="05121F"/>
          </a:solidFill>
          <a:ln>
            <a:solidFill>
              <a:srgbClr val="00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2040" tIns="27360" rIns="32040" bIns="2736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420" b="0" i="1" u="none" strike="noStrike">
                <a:solidFill>
                  <a:srgbClr val="AADCEB"/>
                </a:solidFill>
                <a:effectLst/>
                <a:uFillTx/>
                <a:latin typeface="Aptos"/>
              </a:rPr>
              <a:t>Futuro: conectar, escalar, endurecer, auditar</a:t>
            </a:r>
            <a:endParaRPr lang="en-US" sz="14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Image 0" descr="/mnt/data/tcc_assets/bg_right.png"/>
          <p:cNvPicPr/>
          <p:nvPr/>
        </p:nvPicPr>
        <p:blipFill>
          <a:blip r:embed="rId1"/>
          <a:stretch/>
        </p:blipFill>
        <p:spPr>
          <a:xfrm>
            <a:off x="6903720" y="0"/>
            <a:ext cx="5285520" cy="685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7" name="Shape 0"/>
          <p:cNvSpPr/>
          <p:nvPr/>
        </p:nvSpPr>
        <p:spPr>
          <a:xfrm>
            <a:off x="0" y="0"/>
            <a:ext cx="6764040" cy="6855480"/>
          </a:xfrm>
          <a:prstGeom prst="rect">
            <a:avLst/>
          </a:prstGeom>
          <a:solidFill>
            <a:srgbClr val="07111F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"/>
          <p:cNvSpPr/>
          <p:nvPr/>
        </p:nvSpPr>
        <p:spPr>
          <a:xfrm>
            <a:off x="530280" y="658440"/>
            <a:ext cx="4753080" cy="71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900" b="1" u="none" strike="noStrike">
                <a:solidFill>
                  <a:srgbClr val="F4F8FF"/>
                </a:solidFill>
                <a:effectLst/>
                <a:uFillTx/>
                <a:latin typeface="Aptos Display"/>
                <a:ea typeface="Aptos Display"/>
              </a:rPr>
              <a:t>Conclusão</a:t>
            </a:r>
            <a:endParaRPr lang="en-US" sz="3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2"/>
          <p:cNvSpPr/>
          <p:nvPr/>
        </p:nvSpPr>
        <p:spPr>
          <a:xfrm>
            <a:off x="713160" y="1828800"/>
            <a:ext cx="31752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1" u="none" strike="noStrike">
                <a:solidFill>
                  <a:srgbClr val="27D9FF"/>
                </a:solidFill>
                <a:effectLst/>
                <a:uFillTx/>
                <a:latin typeface="Aptos"/>
                <a:ea typeface="Aptos"/>
              </a:rPr>
              <a:t>01</a:t>
            </a:r>
            <a:endParaRPr lang="en-US" sz="9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3"/>
          <p:cNvSpPr/>
          <p:nvPr/>
        </p:nvSpPr>
        <p:spPr>
          <a:xfrm>
            <a:off x="1078920" y="1664280"/>
            <a:ext cx="54388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Arquitetura modular para overlay P2P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4"/>
          <p:cNvSpPr/>
          <p:nvPr/>
        </p:nvSpPr>
        <p:spPr>
          <a:xfrm>
            <a:off x="713160" y="2487240"/>
            <a:ext cx="31752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1" u="none" strike="noStrike">
                <a:solidFill>
                  <a:srgbClr val="27D9FF"/>
                </a:solidFill>
                <a:effectLst/>
                <a:uFillTx/>
                <a:latin typeface="Aptos"/>
                <a:ea typeface="Aptos"/>
              </a:rPr>
              <a:t>02</a:t>
            </a:r>
            <a:endParaRPr lang="en-US" sz="9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5"/>
          <p:cNvSpPr/>
          <p:nvPr/>
        </p:nvSpPr>
        <p:spPr>
          <a:xfrm>
            <a:off x="1078920" y="2359080"/>
            <a:ext cx="54388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Separação entre físico, virtual, rotas, sessões e dados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6"/>
          <p:cNvSpPr/>
          <p:nvPr/>
        </p:nvSpPr>
        <p:spPr>
          <a:xfrm>
            <a:off x="713160" y="3145680"/>
            <a:ext cx="31752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1" u="none" strike="noStrike">
                <a:solidFill>
                  <a:srgbClr val="27D9FF"/>
                </a:solidFill>
                <a:effectLst/>
                <a:uFillTx/>
                <a:latin typeface="Aptos"/>
                <a:ea typeface="Aptos"/>
              </a:rPr>
              <a:t>03</a:t>
            </a:r>
            <a:endParaRPr lang="en-US" sz="9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7"/>
          <p:cNvSpPr/>
          <p:nvPr/>
        </p:nvSpPr>
        <p:spPr>
          <a:xfrm>
            <a:off x="1078920" y="3054240"/>
            <a:ext cx="54388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Integração de segurança, persistência e descoberta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8"/>
          <p:cNvSpPr/>
          <p:nvPr/>
        </p:nvSpPr>
        <p:spPr>
          <a:xfrm>
            <a:off x="713160" y="3803760"/>
            <a:ext cx="31752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1" u="none" strike="noStrike">
                <a:solidFill>
                  <a:srgbClr val="27D9FF"/>
                </a:solidFill>
                <a:effectLst/>
                <a:uFillTx/>
                <a:latin typeface="Aptos"/>
                <a:ea typeface="Aptos"/>
              </a:rPr>
              <a:t>04</a:t>
            </a:r>
            <a:endParaRPr lang="en-US" sz="9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9"/>
          <p:cNvSpPr/>
          <p:nvPr/>
        </p:nvSpPr>
        <p:spPr>
          <a:xfrm>
            <a:off x="1078920" y="3749040"/>
            <a:ext cx="54388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Validação experimental com MVP e Social PoC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10"/>
          <p:cNvSpPr/>
          <p:nvPr/>
        </p:nvSpPr>
        <p:spPr>
          <a:xfrm>
            <a:off x="548640" y="5074920"/>
            <a:ext cx="5987520" cy="912600"/>
          </a:xfrm>
          <a:prstGeom prst="roundRect">
            <a:avLst>
              <a:gd name="adj" fmla="val 16667"/>
            </a:avLst>
          </a:prstGeom>
          <a:solidFill>
            <a:srgbClr val="07111F"/>
          </a:solidFill>
          <a:ln w="11430">
            <a:solidFill>
              <a:srgbClr val="27D9FF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A principal contribuição não é afirmar que a rede está pronta para produção, mas demonstrar uma base arquitetural consistente para sistemas descentralizados seguros, modulares e evolutivos.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11"/>
          <p:cNvSpPr/>
          <p:nvPr/>
        </p:nvSpPr>
        <p:spPr>
          <a:xfrm>
            <a:off x="9464040" y="5577840"/>
            <a:ext cx="17812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1" u="none" strike="noStrike">
                <a:solidFill>
                  <a:srgbClr val="F4F8FF"/>
                </a:solidFill>
                <a:effectLst/>
                <a:uFillTx/>
                <a:latin typeface="Aptos Display"/>
                <a:ea typeface="Aptos Display"/>
              </a:rPr>
              <a:t>Obrigado.</a:t>
            </a:r>
            <a:endParaRPr lang="en-US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12"/>
          <p:cNvSpPr/>
          <p:nvPr/>
        </p:nvSpPr>
        <p:spPr>
          <a:xfrm>
            <a:off x="11448360" y="6528960"/>
            <a:ext cx="31752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66738A"/>
                </a:solidFill>
                <a:effectLst/>
                <a:uFillTx/>
                <a:latin typeface="Aptos"/>
                <a:ea typeface="Aptos"/>
              </a:rPr>
              <a:t>17</a:t>
            </a:r>
            <a:endParaRPr lang="en-US" sz="9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Presenter Helper 17"/>
          <p:cNvSpPr/>
          <p:nvPr/>
        </p:nvSpPr>
        <p:spPr>
          <a:xfrm>
            <a:off x="411480" y="6181200"/>
            <a:ext cx="10650960" cy="382320"/>
          </a:xfrm>
          <a:prstGeom prst="roundRect">
            <a:avLst>
              <a:gd name="adj" fmla="val 16667"/>
            </a:avLst>
          </a:prstGeom>
          <a:solidFill>
            <a:srgbClr val="05121F"/>
          </a:solidFill>
          <a:ln>
            <a:solidFill>
              <a:srgbClr val="00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2040" tIns="27360" rIns="32040" bIns="2736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420" b="0" i="1" u="none" strike="noStrike">
                <a:solidFill>
                  <a:srgbClr val="AADCEB"/>
                </a:solidFill>
                <a:effectLst/>
                <a:uFillTx/>
                <a:latin typeface="Aptos"/>
              </a:rPr>
              <a:t>arquitetura validada + limites honestos</a:t>
            </a:r>
            <a:endParaRPr lang="en-US" sz="14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1" name=""/>
          <p:cNvPicPr/>
          <p:nvPr/>
        </p:nvPicPr>
        <p:blipFill>
          <a:blip r:embed="rId2"/>
          <a:stretch/>
        </p:blipFill>
        <p:spPr>
          <a:xfrm>
            <a:off x="7564320" y="228600"/>
            <a:ext cx="3865320" cy="5257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Text 0"/>
          <p:cNvSpPr/>
          <p:nvPr/>
        </p:nvSpPr>
        <p:spPr>
          <a:xfrm>
            <a:off x="502920" y="1325880"/>
            <a:ext cx="5347440" cy="1232640"/>
          </a:xfrm>
          <a:prstGeom prst="roundRect">
            <a:avLst>
              <a:gd name="adj" fmla="val 16667"/>
            </a:avLst>
          </a:prstGeom>
          <a:solidFill>
            <a:srgbClr val="0F2440"/>
          </a:solidFill>
          <a:ln w="13970">
            <a:solidFill>
              <a:srgbClr val="27D9FF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t">
            <a:normAutofit/>
          </a:bodyPr>
          <a:p>
            <a:pPr>
              <a:lnSpc>
                <a:spcPct val="100000"/>
              </a:lnSpc>
            </a:pPr>
            <a:r>
              <a:rPr lang="en-US" sz="1530" b="1" u="none" strike="noStrike">
                <a:solidFill>
                  <a:srgbClr val="27D9FF"/>
                </a:solidFill>
                <a:effectLst/>
                <a:uFillTx/>
                <a:latin typeface="Aptos"/>
                <a:ea typeface="Aptos"/>
              </a:rPr>
              <a:t>Anonimato</a:t>
            </a:r>
            <a:endParaRPr lang="en-US" sz="15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orientado à privacidade; sem prova formal contra adversário global</a:t>
            </a:r>
            <a:endParaRPr lang="en-US" sz="15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1"/>
          <p:cNvSpPr/>
          <p:nvPr/>
        </p:nvSpPr>
        <p:spPr>
          <a:xfrm>
            <a:off x="6172200" y="1325880"/>
            <a:ext cx="5347440" cy="1232640"/>
          </a:xfrm>
          <a:prstGeom prst="roundRect">
            <a:avLst>
              <a:gd name="adj" fmla="val 16667"/>
            </a:avLst>
          </a:prstGeom>
          <a:solidFill>
            <a:srgbClr val="0F2440"/>
          </a:solidFill>
          <a:ln w="13970">
            <a:solidFill>
              <a:srgbClr val="F6B84B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t">
            <a:normAutofit/>
          </a:bodyPr>
          <a:p>
            <a:pPr>
              <a:lnSpc>
                <a:spcPct val="100000"/>
              </a:lnSpc>
            </a:pPr>
            <a:r>
              <a:rPr lang="en-US" sz="1530" b="1" u="none" strike="noStrike">
                <a:solidFill>
                  <a:srgbClr val="F6B84B"/>
                </a:solidFill>
                <a:effectLst/>
                <a:uFillTx/>
                <a:latin typeface="Aptos"/>
                <a:ea typeface="Aptos"/>
              </a:rPr>
              <a:t>NAT traversal</a:t>
            </a:r>
            <a:endParaRPr lang="en-US" sz="15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previsto na arquitetura; MVP usa TCP, UDP experimental e relay</a:t>
            </a:r>
            <a:endParaRPr lang="en-US" sz="15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2"/>
          <p:cNvSpPr/>
          <p:nvPr/>
        </p:nvSpPr>
        <p:spPr>
          <a:xfrm>
            <a:off x="502920" y="2770560"/>
            <a:ext cx="5347440" cy="1232640"/>
          </a:xfrm>
          <a:prstGeom prst="roundRect">
            <a:avLst>
              <a:gd name="adj" fmla="val 16667"/>
            </a:avLst>
          </a:prstGeom>
          <a:solidFill>
            <a:srgbClr val="0F2440"/>
          </a:solidFill>
          <a:ln w="13970">
            <a:solidFill>
              <a:srgbClr val="28D17C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t">
            <a:normAutofit/>
          </a:bodyPr>
          <a:p>
            <a:pPr>
              <a:lnSpc>
                <a:spcPct val="100000"/>
              </a:lnSpc>
            </a:pPr>
            <a:r>
              <a:rPr lang="en-US" sz="1530" b="1" u="none" strike="noStrike">
                <a:solidFill>
                  <a:srgbClr val="28D17C"/>
                </a:solidFill>
                <a:effectLst/>
                <a:uFillTx/>
                <a:latin typeface="Aptos"/>
                <a:ea typeface="Aptos"/>
              </a:rPr>
              <a:t>Kademlia</a:t>
            </a:r>
            <a:endParaRPr lang="en-US" sz="15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DHT inspirada em XOR/proximidade; ainda não é Kademlia completa</a:t>
            </a:r>
            <a:endParaRPr lang="en-US" sz="15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3"/>
          <p:cNvSpPr/>
          <p:nvPr/>
        </p:nvSpPr>
        <p:spPr>
          <a:xfrm>
            <a:off x="6172200" y="2770560"/>
            <a:ext cx="5347440" cy="1232640"/>
          </a:xfrm>
          <a:prstGeom prst="roundRect">
            <a:avLst>
              <a:gd name="adj" fmla="val 16667"/>
            </a:avLst>
          </a:prstGeom>
          <a:solidFill>
            <a:srgbClr val="0F2440"/>
          </a:solidFill>
          <a:ln w="13970">
            <a:solidFill>
              <a:srgbClr val="8A6DFF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t">
            <a:normAutofit/>
          </a:bodyPr>
          <a:p>
            <a:pPr>
              <a:lnSpc>
                <a:spcPct val="100000"/>
              </a:lnSpc>
            </a:pPr>
            <a:r>
              <a:rPr lang="en-US" sz="1530" b="1" u="none" strike="noStrike">
                <a:solidFill>
                  <a:srgbClr val="8A6DFF"/>
                </a:solidFill>
                <a:effectLst/>
                <a:uFillTx/>
                <a:latin typeface="Aptos"/>
                <a:ea typeface="Aptos"/>
              </a:rPr>
              <a:t>Escala</a:t>
            </a:r>
            <a:endParaRPr lang="en-US" sz="15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3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validação funcional e arquitetural; Internet-scale fica como futuro</a:t>
            </a:r>
            <a:endParaRPr lang="en-US" sz="15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4"/>
          <p:cNvSpPr/>
          <p:nvPr/>
        </p:nvSpPr>
        <p:spPr>
          <a:xfrm>
            <a:off x="685800" y="4754880"/>
            <a:ext cx="10971000" cy="775440"/>
          </a:xfrm>
          <a:prstGeom prst="roundRect">
            <a:avLst>
              <a:gd name="adj" fmla="val 16667"/>
            </a:avLst>
          </a:prstGeom>
          <a:solidFill>
            <a:srgbClr val="07111F"/>
          </a:solidFill>
          <a:ln w="11430">
            <a:solidFill>
              <a:srgbClr val="27D9FF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2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Objetivo: validar a arquitetura e seus fluxos principais, não entregar uma rede pública madura.</a:t>
            </a:r>
            <a:endParaRPr lang="en-US" sz="16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5"/>
          <p:cNvSpPr/>
          <p:nvPr/>
        </p:nvSpPr>
        <p:spPr>
          <a:xfrm>
            <a:off x="411480" y="311040"/>
            <a:ext cx="8456400" cy="61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4F8FF"/>
                </a:solidFill>
                <a:effectLst/>
                <a:uFillTx/>
                <a:latin typeface="Aptos Display"/>
                <a:ea typeface="Aptos Display"/>
              </a:rPr>
              <a:t>Perguntas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6"/>
          <p:cNvSpPr/>
          <p:nvPr/>
        </p:nvSpPr>
        <p:spPr>
          <a:xfrm>
            <a:off x="420480" y="758880"/>
            <a:ext cx="941652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AAB7CA"/>
                </a:solidFill>
                <a:effectLst/>
                <a:uFillTx/>
                <a:latin typeface="Aptos"/>
                <a:ea typeface="Aptos"/>
              </a:rPr>
              <a:t>Pontos de defesa para a discussão com a banca.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7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 w="12700">
            <a:solidFill>
              <a:srgbClr val="27D9FF">
                <a:alpha val="8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8"/>
          <p:cNvSpPr/>
          <p:nvPr/>
        </p:nvSpPr>
        <p:spPr>
          <a:xfrm>
            <a:off x="9052560" y="301680"/>
            <a:ext cx="2649960" cy="318240"/>
          </a:xfrm>
          <a:prstGeom prst="roundRect">
            <a:avLst>
              <a:gd name="adj" fmla="val 16667"/>
            </a:avLst>
          </a:prstGeom>
          <a:solidFill>
            <a:srgbClr val="0E315D">
              <a:alpha val="98000"/>
            </a:srgbClr>
          </a:solidFill>
          <a:ln w="9525">
            <a:solidFill>
              <a:srgbClr val="164A8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1" u="none" strike="noStrike">
                <a:solidFill>
                  <a:srgbClr val="27D9FF"/>
                </a:solidFill>
                <a:effectLst/>
                <a:uFillTx/>
                <a:latin typeface="Aptos"/>
                <a:ea typeface="Aptos"/>
              </a:rPr>
              <a:t>18 · DISCUSSÃO</a:t>
            </a:r>
            <a:endParaRPr lang="en-US" sz="11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9"/>
          <p:cNvSpPr/>
          <p:nvPr/>
        </p:nvSpPr>
        <p:spPr>
          <a:xfrm>
            <a:off x="11448360" y="6528960"/>
            <a:ext cx="31752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66738A"/>
                </a:solidFill>
                <a:effectLst/>
                <a:uFillTx/>
                <a:latin typeface="Aptos"/>
                <a:ea typeface="Aptos"/>
              </a:rPr>
              <a:t>18</a:t>
            </a:r>
            <a:endParaRPr lang="en-US" sz="9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10"/>
          <p:cNvSpPr/>
          <p:nvPr/>
        </p:nvSpPr>
        <p:spPr>
          <a:xfrm>
            <a:off x="420480" y="6629400"/>
            <a:ext cx="338076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040" tIns="27360" rIns="32040" bIns="27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0" u="none" strike="noStrike">
                <a:solidFill>
                  <a:srgbClr val="66738A"/>
                </a:solidFill>
                <a:effectLst/>
                <a:uFillTx/>
                <a:latin typeface="Aptos"/>
                <a:ea typeface="Aptos"/>
              </a:rPr>
              <a:t>DISCUSSÃO</a:t>
            </a:r>
            <a:endParaRPr lang="en-US" sz="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Presenter Helper 18"/>
          <p:cNvSpPr/>
          <p:nvPr/>
        </p:nvSpPr>
        <p:spPr>
          <a:xfrm>
            <a:off x="411480" y="6181200"/>
            <a:ext cx="10650960" cy="382320"/>
          </a:xfrm>
          <a:prstGeom prst="roundRect">
            <a:avLst>
              <a:gd name="adj" fmla="val 16667"/>
            </a:avLst>
          </a:prstGeom>
          <a:solidFill>
            <a:srgbClr val="05121F"/>
          </a:solidFill>
          <a:ln>
            <a:solidFill>
              <a:srgbClr val="00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2040" tIns="27360" rIns="32040" bIns="2736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420" b="0" i="1" u="none" strike="noStrike">
                <a:solidFill>
                  <a:srgbClr val="AADCEB"/>
                </a:solidFill>
                <a:effectLst/>
                <a:uFillTx/>
                <a:latin typeface="Aptos"/>
              </a:rPr>
              <a:t>O escopo e a arquitetura</a:t>
            </a:r>
            <a:endParaRPr lang="en-US" sz="14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</TotalTime>
  <Application>LibreOffice/26.2.1.2$Windows_X86_64 LibreOffice_project/620$Build-2</Application>
  <AppVersion>15.0000</AppVersion>
  <Words>0</Words>
  <Paragraphs>0</Paragraphs>
  <Company>UFSC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2026-07-06T22:17:22Z</dcterms:created>
  <dc:creator>Anderson Simioni Assunção</dc:creator>
  <dc:description/>
  <dc:language>en-US</dc:language>
  <cp:lastModifiedBy/>
  <dcterms:modified xsi:type="dcterms:W3CDTF">2026-07-10T10:56:53Z</dcterms:modified>
  <cp:revision>41</cp:revision>
  <dc:subject>TCC defense presentation</dc:subject>
  <dc:title>A Modular Architecture for Decentralized Peer-to-Peer Overlay Networks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18</vt:i4>
  </property>
  <property fmtid="{D5CDD505-2E9C-101B-9397-08002B2CF9AE}" pid="3" name="PresentationFormat">
    <vt:lpwstr>On-screen Show (16:9)</vt:lpwstr>
  </property>
  <property fmtid="{D5CDD505-2E9C-101B-9397-08002B2CF9AE}" pid="4" name="Slides">
    <vt:i4>18</vt:i4>
  </property>
</Properties>
</file>